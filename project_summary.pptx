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sldIdLst>
    <p:sldId id="445" r:id="rId2"/>
    <p:sldId id="430" r:id="rId3"/>
    <p:sldId id="454" r:id="rId4"/>
    <p:sldId id="458" r:id="rId5"/>
    <p:sldId id="455" r:id="rId6"/>
    <p:sldId id="448" r:id="rId7"/>
    <p:sldId id="450" r:id="rId8"/>
    <p:sldId id="451" r:id="rId9"/>
    <p:sldId id="452" r:id="rId10"/>
    <p:sldId id="446" r:id="rId11"/>
    <p:sldId id="460" r:id="rId12"/>
    <p:sldId id="456" r:id="rId13"/>
    <p:sldId id="453" r:id="rId14"/>
    <p:sldId id="447" r:id="rId15"/>
    <p:sldId id="459" r:id="rId16"/>
    <p:sldId id="444" r:id="rId17"/>
  </p:sldIdLst>
  <p:sldSz cx="12192000" cy="6858000"/>
  <p:notesSz cx="6858000" cy="9144000"/>
  <p:embeddedFontLst>
    <p:embeddedFont>
      <p:font typeface="Malgun Gothic" panose="020B0503020000020004" pitchFamily="34" charset="-127"/>
      <p:regular r:id="rId18"/>
      <p:bold r:id="rId19"/>
    </p:embeddedFont>
    <p:embeddedFont>
      <p:font typeface="넥슨Lv1고딕 Bold" panose="020B0604020202020204" charset="-127"/>
      <p:bold r:id="rId20"/>
    </p:embeddedFont>
    <p:embeddedFont>
      <p:font typeface="Cambria Math" panose="02040503050406030204" pitchFamily="18"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4971"/>
    <a:srgbClr val="F2F2F2"/>
    <a:srgbClr val="F1BEA7"/>
    <a:srgbClr val="E27774"/>
    <a:srgbClr val="A09484"/>
    <a:srgbClr val="EDABA9"/>
    <a:srgbClr val="D9C475"/>
    <a:srgbClr val="EDE3BD"/>
    <a:srgbClr val="F1BBBA"/>
    <a:srgbClr val="F8EC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81" autoAdjust="0"/>
    <p:restoredTop sz="94660"/>
  </p:normalViewPr>
  <p:slideViewPr>
    <p:cSldViewPr snapToGrid="0">
      <p:cViewPr varScale="1">
        <p:scale>
          <a:sx n="113" d="100"/>
          <a:sy n="113" d="100"/>
        </p:scale>
        <p:origin x="546" y="114"/>
      </p:cViewPr>
      <p:guideLst/>
    </p:cSldViewPr>
  </p:slideViewPr>
  <p:notesTextViewPr>
    <p:cViewPr>
      <p:scale>
        <a:sx n="1" d="1"/>
        <a:sy n="1" d="1"/>
      </p:scale>
      <p:origin x="0" y="0"/>
    </p:cViewPr>
  </p:notesTextViewPr>
  <p:sorterViewPr>
    <p:cViewPr>
      <p:scale>
        <a:sx n="94" d="100"/>
        <a:sy n="9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409469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3369403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962493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4063904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1313443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31896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4005497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179283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21139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3729737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1EA8B20-230B-449E-A874-506EFC34ACF9}" type="datetimeFigureOut">
              <a:rPr lang="ko-KR" altLang="en-US" smtClean="0"/>
              <a:t>2025-05-03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BA23A0C-8593-4F33-8064-84CD54B0CF81}" type="slidenum">
              <a:rPr lang="ko-KR" altLang="en-US" smtClean="0"/>
              <a:t>‹#›</a:t>
            </a:fld>
            <a:endParaRPr lang="ko-KR" altLang="en-US"/>
          </a:p>
        </p:txBody>
      </p:sp>
    </p:spTree>
    <p:extLst>
      <p:ext uri="{BB962C8B-B14F-4D97-AF65-F5344CB8AC3E}">
        <p14:creationId xmlns:p14="http://schemas.microsoft.com/office/powerpoint/2010/main" val="14575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EA8B20-230B-449E-A874-506EFC34ACF9}" type="datetimeFigureOut">
              <a:rPr lang="ko-KR" altLang="en-US" smtClean="0"/>
              <a:pPr/>
              <a:t>2025-05-03</a:t>
            </a:fld>
            <a:endParaRPr lang="ko-KR"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23A0C-8593-4F33-8064-84CD54B0CF81}" type="slidenum">
              <a:rPr lang="ko-KR" altLang="en-US" smtClean="0"/>
              <a:pPr/>
              <a:t>‹#›</a:t>
            </a:fld>
            <a:endParaRPr lang="ko-KR" altLang="en-US" dirty="0"/>
          </a:p>
        </p:txBody>
      </p:sp>
    </p:spTree>
    <p:extLst>
      <p:ext uri="{BB962C8B-B14F-4D97-AF65-F5344CB8AC3E}">
        <p14:creationId xmlns:p14="http://schemas.microsoft.com/office/powerpoint/2010/main" val="23134802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towardsdatascience.com/historical-stock-price-data-in-python-a0b6dc826836" TargetMode="External"/><Relationship Id="rId7" Type="http://schemas.openxmlformats.org/officeDocument/2006/relationships/hyperlink" Target="https://blog.quantinsti.com/long-short-equity-strategy/" TargetMode="External"/><Relationship Id="rId2" Type="http://schemas.openxmlformats.org/officeDocument/2006/relationships/hyperlink" Target="https://academic.oup.com/rfs/article-pdf/33/5/2223/33209812/hhaa009.pdf" TargetMode="External"/><Relationship Id="rId1" Type="http://schemas.openxmlformats.org/officeDocument/2006/relationships/slideLayout" Target="../slideLayouts/slideLayout2.xml"/><Relationship Id="rId6" Type="http://schemas.openxmlformats.org/officeDocument/2006/relationships/hyperlink" Target="https://github.com/georgemuriithi/investment-portfolio-optim/tree/main" TargetMode="External"/><Relationship Id="rId5" Type="http://schemas.openxmlformats.org/officeDocument/2006/relationships/hyperlink" Target="https://colab.research.google.com/github/fracdiff/fracdiff/blob/main/examples/example_prado.ipynb#scrollTo=P9dnVAHftZtn" TargetMode="External"/><Relationship Id="rId4" Type="http://schemas.openxmlformats.org/officeDocument/2006/relationships/hyperlink" Target="https://medium.com/swlh/fractionally-differentiated-features-9c1947ed2b5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사각형: 잘린 한쪽 모서리 3">
            <a:extLst>
              <a:ext uri="{FF2B5EF4-FFF2-40B4-BE49-F238E27FC236}">
                <a16:creationId xmlns:a16="http://schemas.microsoft.com/office/drawing/2014/main" id="{0EB2EE40-9B67-4919-819C-DC62116DB7E4}"/>
              </a:ext>
            </a:extLst>
          </p:cNvPr>
          <p:cNvSpPr/>
          <p:nvPr/>
        </p:nvSpPr>
        <p:spPr>
          <a:xfrm flipH="1">
            <a:off x="1" y="0"/>
            <a:ext cx="12191999" cy="6858000"/>
          </a:xfrm>
          <a:prstGeom prst="snip1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EC5095D-16E4-47D0-978A-BCCD290449DB}"/>
              </a:ext>
            </a:extLst>
          </p:cNvPr>
          <p:cNvSpPr txBox="1"/>
          <p:nvPr/>
        </p:nvSpPr>
        <p:spPr>
          <a:xfrm>
            <a:off x="1216405" y="1745671"/>
            <a:ext cx="7764156" cy="2940420"/>
          </a:xfrm>
          <a:prstGeom prst="rect">
            <a:avLst/>
          </a:prstGeom>
          <a:noFill/>
          <a:effectLst/>
        </p:spPr>
        <p:txBody>
          <a:bodyPr wrap="square" rtlCol="0">
            <a:spAutoFit/>
          </a:bodyPr>
          <a:lstStyle/>
          <a:p>
            <a:pPr>
              <a:lnSpc>
                <a:spcPts val="7500"/>
              </a:lnSpc>
            </a:pPr>
            <a:r>
              <a:rPr lang="en-US" altLang="ko-KR" sz="6000" b="1" i="0" u="none" strike="noStrike" dirty="0">
                <a:solidFill>
                  <a:schemeClr val="bg1"/>
                </a:solidFill>
                <a:effectLst/>
                <a:latin typeface="+mj-lt"/>
                <a:ea typeface="Malgun Gothic" panose="020B0503020000020004" pitchFamily="50" charset="-127"/>
              </a:rPr>
              <a:t>Forecasting S</a:t>
            </a:r>
            <a:r>
              <a:rPr lang="en-US" altLang="ko-KR" sz="6000" b="1" dirty="0">
                <a:solidFill>
                  <a:schemeClr val="bg1"/>
                </a:solidFill>
                <a:latin typeface="+mj-lt"/>
                <a:ea typeface="Malgun Gothic" panose="020B0503020000020004" pitchFamily="50" charset="-127"/>
              </a:rPr>
              <a:t>tock Returns</a:t>
            </a:r>
            <a:r>
              <a:rPr lang="en-US" altLang="ko-KR" sz="6000" b="1" i="0" u="none" strike="noStrike" dirty="0">
                <a:solidFill>
                  <a:schemeClr val="bg1"/>
                </a:solidFill>
                <a:effectLst/>
                <a:latin typeface="+mj-lt"/>
                <a:ea typeface="Malgun Gothic" panose="020B0503020000020004" pitchFamily="50" charset="-127"/>
              </a:rPr>
              <a:t> Using Fractional Differencing and LSTM</a:t>
            </a:r>
            <a:endParaRPr lang="ko-KR" altLang="en-US" sz="6000" b="1" dirty="0">
              <a:solidFill>
                <a:schemeClr val="bg1"/>
              </a:solidFill>
              <a:latin typeface="+mj-lt"/>
              <a:ea typeface="넥슨Lv1고딕 Bold" panose="00000800000000000000" pitchFamily="2" charset="-127"/>
            </a:endParaRPr>
          </a:p>
        </p:txBody>
      </p:sp>
      <p:sp>
        <p:nvSpPr>
          <p:cNvPr id="10" name="직각 삼각형 9">
            <a:extLst>
              <a:ext uri="{FF2B5EF4-FFF2-40B4-BE49-F238E27FC236}">
                <a16:creationId xmlns:a16="http://schemas.microsoft.com/office/drawing/2014/main" id="{23B98AEB-735B-45DA-B3C3-978A61E4DCB3}"/>
              </a:ext>
            </a:extLst>
          </p:cNvPr>
          <p:cNvSpPr/>
          <p:nvPr/>
        </p:nvSpPr>
        <p:spPr>
          <a:xfrm rot="16200000">
            <a:off x="-13969" y="13971"/>
            <a:ext cx="1244343" cy="1216404"/>
          </a:xfrm>
          <a:prstGeom prst="rtTriangle">
            <a:avLst/>
          </a:prstGeom>
          <a:solidFill>
            <a:schemeClr val="tx2">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51920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F071F05-18DD-43B3-8318-408A311EC8C9}"/>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699DAB02-A6BC-4B00-A168-CCC96760887F}"/>
              </a:ext>
            </a:extLst>
          </p:cNvPr>
          <p:cNvSpPr txBox="1"/>
          <p:nvPr/>
        </p:nvSpPr>
        <p:spPr>
          <a:xfrm>
            <a:off x="1272076" y="1648667"/>
            <a:ext cx="9153799" cy="5016758"/>
          </a:xfrm>
          <a:prstGeom prst="rect">
            <a:avLst/>
          </a:prstGeom>
          <a:noFill/>
        </p:spPr>
        <p:txBody>
          <a:bodyPr wrap="square" rtlCol="0">
            <a:spAutoFit/>
          </a:bodyPr>
          <a:lstStyle/>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Models that rely solely on </a:t>
            </a:r>
            <a:r>
              <a:rPr lang="en-US" altLang="ko-KR" sz="2000" b="1" dirty="0">
                <a:ea typeface="넥슨Lv1고딕" panose="00000500000000000000" pitchFamily="2" charset="-127"/>
                <a:cs typeface="Times New Roman" panose="02020603050405020304" pitchFamily="18" charset="0"/>
              </a:rPr>
              <a:t>historical returns</a:t>
            </a:r>
            <a:r>
              <a:rPr lang="en-US" altLang="ko-KR" sz="2000" dirty="0">
                <a:ea typeface="넥슨Lv1고딕" panose="00000500000000000000" pitchFamily="2" charset="-127"/>
                <a:cs typeface="Times New Roman" panose="02020603050405020304" pitchFamily="18" charset="0"/>
              </a:rPr>
              <a:t> when predicting </a:t>
            </a:r>
            <a:r>
              <a:rPr lang="en-US" altLang="ko-KR" sz="2000" b="1" dirty="0">
                <a:ea typeface="넥슨Lv1고딕" panose="00000500000000000000" pitchFamily="2" charset="-127"/>
                <a:cs typeface="Times New Roman" panose="02020603050405020304" pitchFamily="18" charset="0"/>
              </a:rPr>
              <a:t>future returns</a:t>
            </a:r>
            <a:r>
              <a:rPr lang="en-US" altLang="ko-KR" sz="2000" dirty="0">
                <a:ea typeface="넥슨Lv1고딕" panose="00000500000000000000" pitchFamily="2" charset="-127"/>
                <a:cs typeface="Times New Roman" panose="02020603050405020304" pitchFamily="18" charset="0"/>
              </a:rPr>
              <a:t> might have limitations in capturing long-term dependencies and irregularities in stock price dynamics.</a:t>
            </a:r>
          </a:p>
          <a:p>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Working with </a:t>
            </a:r>
            <a:r>
              <a:rPr lang="en-US" altLang="ko-KR" sz="2000" b="1" dirty="0">
                <a:ea typeface="넥슨Lv1고딕" panose="00000500000000000000" pitchFamily="2" charset="-127"/>
                <a:cs typeface="Times New Roman" panose="02020603050405020304" pitchFamily="18" charset="0"/>
              </a:rPr>
              <a:t>prices</a:t>
            </a:r>
            <a:r>
              <a:rPr lang="en-US" altLang="ko-KR" sz="2000" dirty="0">
                <a:ea typeface="넥슨Lv1고딕" panose="00000500000000000000" pitchFamily="2" charset="-127"/>
                <a:cs typeface="Times New Roman" panose="02020603050405020304" pitchFamily="18" charset="0"/>
              </a:rPr>
              <a:t> instead of </a:t>
            </a:r>
            <a:r>
              <a:rPr lang="en-US" altLang="ko-KR" sz="2000" b="1" dirty="0">
                <a:ea typeface="넥슨Lv1고딕" panose="00000500000000000000" pitchFamily="2" charset="-127"/>
                <a:cs typeface="Times New Roman" panose="02020603050405020304" pitchFamily="18" charset="0"/>
              </a:rPr>
              <a:t>returns</a:t>
            </a:r>
            <a:r>
              <a:rPr lang="en-US" altLang="ko-KR" sz="2000" dirty="0">
                <a:ea typeface="넥슨Lv1고딕" panose="00000500000000000000" pitchFamily="2" charset="-127"/>
                <a:cs typeface="Times New Roman" panose="02020603050405020304" pitchFamily="18" charset="0"/>
              </a:rPr>
              <a:t> is also not helpful as price data is highly </a:t>
            </a:r>
            <a:r>
              <a:rPr lang="en-US" altLang="ko-KR" sz="2000" b="1" dirty="0">
                <a:ea typeface="넥슨Lv1고딕" panose="00000500000000000000" pitchFamily="2" charset="-127"/>
                <a:cs typeface="Times New Roman" panose="02020603050405020304" pitchFamily="18" charset="0"/>
              </a:rPr>
              <a:t>nonstationary</a:t>
            </a:r>
            <a:r>
              <a:rPr lang="en-US" altLang="ko-KR" sz="2000" dirty="0">
                <a:ea typeface="넥슨Lv1고딕" panose="00000500000000000000" pitchFamily="2" charset="-127"/>
                <a:cs typeface="Times New Roman" panose="02020603050405020304" pitchFamily="18" charset="0"/>
              </a:rPr>
              <a:t> (very hard to model because properties of the data change very frequently)</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This is where </a:t>
            </a:r>
            <a:r>
              <a:rPr lang="en-US" altLang="ko-KR" sz="2000" b="1" dirty="0">
                <a:ea typeface="넥슨Lv1고딕" panose="00000500000000000000" pitchFamily="2" charset="-127"/>
                <a:cs typeface="Times New Roman" panose="02020603050405020304" pitchFamily="18" charset="0"/>
              </a:rPr>
              <a:t>fractional differencing </a:t>
            </a:r>
            <a:r>
              <a:rPr lang="en-US" altLang="ko-KR" sz="2000" dirty="0">
                <a:ea typeface="넥슨Lv1고딕" panose="00000500000000000000" pitchFamily="2" charset="-127"/>
                <a:cs typeface="Times New Roman" panose="02020603050405020304" pitchFamily="18" charset="0"/>
              </a:rPr>
              <a:t>can be useful. It is a way to make a time series </a:t>
            </a:r>
            <a:r>
              <a:rPr lang="en-US" altLang="ko-KR" sz="2000" b="1" dirty="0">
                <a:ea typeface="넥슨Lv1고딕" panose="00000500000000000000" pitchFamily="2" charset="-127"/>
                <a:cs typeface="Times New Roman" panose="02020603050405020304" pitchFamily="18" charset="0"/>
              </a:rPr>
              <a:t>stationary</a:t>
            </a:r>
            <a:r>
              <a:rPr lang="en-US" altLang="ko-KR" sz="2000" dirty="0">
                <a:ea typeface="넥슨Lv1고딕" panose="00000500000000000000" pitchFamily="2" charset="-127"/>
                <a:cs typeface="Times New Roman" panose="02020603050405020304" pitchFamily="18" charset="0"/>
              </a:rPr>
              <a:t> (the mean and the variance are time-invariant) while preserving as much </a:t>
            </a:r>
            <a:r>
              <a:rPr lang="en-US" altLang="ko-KR" sz="2000" b="1" dirty="0">
                <a:ea typeface="넥슨Lv1고딕" panose="00000500000000000000" pitchFamily="2" charset="-127"/>
                <a:cs typeface="Times New Roman" panose="02020603050405020304" pitchFamily="18" charset="0"/>
              </a:rPr>
              <a:t>memory</a:t>
            </a:r>
            <a:r>
              <a:rPr lang="en-US" altLang="ko-KR" sz="2000" dirty="0">
                <a:ea typeface="넥슨Lv1고딕" panose="00000500000000000000" pitchFamily="2" charset="-127"/>
                <a:cs typeface="Times New Roman" panose="02020603050405020304" pitchFamily="18" charset="0"/>
              </a:rPr>
              <a:t> as possible. Although the idea was developed a long time ago (in 1970), it was not applied to for finance problems such as stock return prediction.</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To take advantage of preserved memory, we are going to use </a:t>
            </a:r>
            <a:r>
              <a:rPr lang="en-US" altLang="ko-KR" sz="2000" b="1" dirty="0">
                <a:ea typeface="넥슨Lv1고딕" panose="00000500000000000000" pitchFamily="2" charset="-127"/>
                <a:cs typeface="Times New Roman" panose="02020603050405020304" pitchFamily="18" charset="0"/>
              </a:rPr>
              <a:t>LSTM</a:t>
            </a:r>
            <a:r>
              <a:rPr lang="en-US" altLang="ko-KR" sz="2000" dirty="0">
                <a:ea typeface="넥슨Lv1고딕" panose="00000500000000000000" pitchFamily="2" charset="-127"/>
                <a:cs typeface="Times New Roman" panose="02020603050405020304" pitchFamily="18" charset="0"/>
              </a:rPr>
              <a:t>, which is a deep learning model specifically designed to capture long-term dependencies in the time series data. </a:t>
            </a:r>
          </a:p>
        </p:txBody>
      </p:sp>
      <p:sp>
        <p:nvSpPr>
          <p:cNvPr id="11" name="TextBox 10">
            <a:extLst>
              <a:ext uri="{FF2B5EF4-FFF2-40B4-BE49-F238E27FC236}">
                <a16:creationId xmlns:a16="http://schemas.microsoft.com/office/drawing/2014/main" id="{8C7734F3-BC05-4467-BD3A-CA5672615C7C}"/>
              </a:ext>
            </a:extLst>
          </p:cNvPr>
          <p:cNvSpPr txBox="1"/>
          <p:nvPr/>
        </p:nvSpPr>
        <p:spPr>
          <a:xfrm>
            <a:off x="1306383" y="544892"/>
            <a:ext cx="6601166"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Intro and Background</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1837772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F071F05-18DD-43B3-8318-408A311EC8C9}"/>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699DAB02-A6BC-4B00-A168-CCC96760887F}"/>
              </a:ext>
            </a:extLst>
          </p:cNvPr>
          <p:cNvSpPr txBox="1"/>
          <p:nvPr/>
        </p:nvSpPr>
        <p:spPr>
          <a:xfrm>
            <a:off x="1306383" y="1533465"/>
            <a:ext cx="10179035" cy="5632311"/>
          </a:xfrm>
          <a:prstGeom prst="rect">
            <a:avLst/>
          </a:prstGeom>
          <a:noFill/>
        </p:spPr>
        <p:txBody>
          <a:bodyPr wrap="square" rtlCol="0">
            <a:spAutoFit/>
          </a:bodyPr>
          <a:lstStyle/>
          <a:p>
            <a:pPr marL="342900" indent="-342900">
              <a:buFont typeface="Arial" panose="020B0604020202020204" pitchFamily="34" charset="0"/>
              <a:buChar char="•"/>
            </a:pPr>
            <a:r>
              <a:rPr lang="en-US" altLang="ko-KR" sz="2000" b="1" dirty="0">
                <a:ea typeface="넥슨Lv1고딕" panose="00000500000000000000" pitchFamily="2" charset="-127"/>
                <a:cs typeface="Times New Roman" panose="02020603050405020304" pitchFamily="18" charset="0"/>
              </a:rPr>
              <a:t>Our objective</a:t>
            </a:r>
            <a:r>
              <a:rPr lang="en-US" altLang="ko-KR" sz="2000" dirty="0">
                <a:ea typeface="넥슨Lv1고딕" panose="00000500000000000000" pitchFamily="2" charset="-127"/>
                <a:cs typeface="Times New Roman" panose="02020603050405020304" pitchFamily="18" charset="0"/>
              </a:rPr>
              <a:t> is to investigate whether applying fractional differencing on </a:t>
            </a:r>
            <a:r>
              <a:rPr lang="en-US" altLang="ko-KR" sz="2000" b="1" dirty="0">
                <a:ea typeface="넥슨Lv1고딕" panose="00000500000000000000" pitchFamily="2" charset="-127"/>
                <a:cs typeface="Times New Roman" panose="02020603050405020304" pitchFamily="18" charset="0"/>
              </a:rPr>
              <a:t>log stock prices </a:t>
            </a:r>
            <a:r>
              <a:rPr lang="en-US" altLang="ko-KR" sz="2000" dirty="0">
                <a:ea typeface="넥슨Lv1고딕" panose="00000500000000000000" pitchFamily="2" charset="-127"/>
                <a:cs typeface="Times New Roman" panose="02020603050405020304" pitchFamily="18" charset="0"/>
              </a:rPr>
              <a:t>enhances the accuracy of predicting future stock returns and helps us build a better performing portfolio compared to a benchmark (portfolio build on the predictions coming from the historical returns).</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The </a:t>
            </a:r>
            <a:r>
              <a:rPr lang="en-US" altLang="ko-KR" sz="2000" b="1" dirty="0">
                <a:ea typeface="넥슨Lv1고딕" panose="00000500000000000000" pitchFamily="2" charset="-127"/>
                <a:cs typeface="Times New Roman" panose="02020603050405020304" pitchFamily="18" charset="0"/>
              </a:rPr>
              <a:t>dataset</a:t>
            </a:r>
            <a:r>
              <a:rPr lang="en-US" altLang="ko-KR" sz="2000" dirty="0">
                <a:ea typeface="넥슨Lv1고딕" panose="00000500000000000000" pitchFamily="2" charset="-127"/>
                <a:cs typeface="Times New Roman" panose="02020603050405020304" pitchFamily="18" charset="0"/>
              </a:rPr>
              <a:t> that we chose consists of adjusted close prices and volume data spanning from 2000 to 2023 for companies included in S&amp;P 500 (since training period for our forecasting model was decided to be 10 years, we decide to look at the components of S&amp;P 500 in 2010)</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As some companies had their stock tickers changed after 2010, we were not able to get the data for all 500 companies and only for about 400 companies.</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r>
              <a:rPr lang="en-US" altLang="ko-KR" sz="2000" dirty="0">
                <a:ea typeface="넥슨Lv1고딕" panose="00000500000000000000" pitchFamily="2" charset="-127"/>
                <a:cs typeface="Times New Roman" panose="02020603050405020304" pitchFamily="18" charset="0"/>
              </a:rPr>
              <a:t>After removing companies that did not have 10-year trading history before 2010, we left with 300 companies. Out of those 300 companies, we randomly sampled 30 companies because it would have taken too much time (one or two days) to build a model for all companies even if we used GPUs.</a:t>
            </a: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a:p>
            <a:pPr marL="342900" indent="-342900">
              <a:buFont typeface="Arial" panose="020B0604020202020204" pitchFamily="34" charset="0"/>
              <a:buChar char="•"/>
            </a:pPr>
            <a:endParaRPr lang="en-US" altLang="ko-KR" sz="2000" dirty="0">
              <a:ea typeface="넥슨Lv1고딕" panose="00000500000000000000" pitchFamily="2" charset="-127"/>
              <a:cs typeface="Times New Roman" panose="02020603050405020304" pitchFamily="18" charset="0"/>
            </a:endParaRPr>
          </a:p>
        </p:txBody>
      </p:sp>
      <p:sp>
        <p:nvSpPr>
          <p:cNvPr id="11" name="TextBox 10">
            <a:extLst>
              <a:ext uri="{FF2B5EF4-FFF2-40B4-BE49-F238E27FC236}">
                <a16:creationId xmlns:a16="http://schemas.microsoft.com/office/drawing/2014/main" id="{8C7734F3-BC05-4467-BD3A-CA5672615C7C}"/>
              </a:ext>
            </a:extLst>
          </p:cNvPr>
          <p:cNvSpPr txBox="1"/>
          <p:nvPr/>
        </p:nvSpPr>
        <p:spPr>
          <a:xfrm>
            <a:off x="1306383" y="531038"/>
            <a:ext cx="6601166"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Intro and Background</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290081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F071F05-18DD-43B3-8318-408A311EC8C9}"/>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8C7734F3-BC05-4467-BD3A-CA5672615C7C}"/>
              </a:ext>
            </a:extLst>
          </p:cNvPr>
          <p:cNvSpPr txBox="1"/>
          <p:nvPr/>
        </p:nvSpPr>
        <p:spPr>
          <a:xfrm>
            <a:off x="1306383" y="469525"/>
            <a:ext cx="9463217" cy="2123658"/>
          </a:xfrm>
          <a:prstGeom prst="rect">
            <a:avLst/>
          </a:prstGeom>
          <a:noFill/>
          <a:effectLst/>
        </p:spPr>
        <p:txBody>
          <a:bodyPr wrap="square" rtlCol="0">
            <a:spAutoFit/>
          </a:bodyPr>
          <a:lstStyle/>
          <a:p>
            <a:r>
              <a:rPr lang="en-US" altLang="ko-KR" sz="4400" b="1" spc="600" dirty="0">
                <a:solidFill>
                  <a:schemeClr val="accent1">
                    <a:lumMod val="50000"/>
                  </a:schemeClr>
                </a:solidFill>
                <a:latin typeface="+mj-lt"/>
                <a:ea typeface="넥슨Lv1고딕 Bold" panose="00000800000000000000" pitchFamily="2" charset="-127"/>
              </a:rPr>
              <a:t>Why Did We Choose</a:t>
            </a:r>
          </a:p>
          <a:p>
            <a:r>
              <a:rPr lang="en-US" altLang="ko-KR" sz="4400" b="1" spc="600" dirty="0">
                <a:solidFill>
                  <a:schemeClr val="accent1">
                    <a:lumMod val="50000"/>
                  </a:schemeClr>
                </a:solidFill>
                <a:latin typeface="+mj-lt"/>
                <a:ea typeface="넥슨Lv1고딕 Bold" panose="00000800000000000000" pitchFamily="2" charset="-127"/>
              </a:rPr>
              <a:t>Historical Adjusted Close Price and Volume Data as Features?</a:t>
            </a:r>
            <a:endParaRPr lang="ko-KR" altLang="en-US" sz="4400" b="1" spc="600" dirty="0">
              <a:solidFill>
                <a:schemeClr val="accent1">
                  <a:lumMod val="50000"/>
                </a:schemeClr>
              </a:solidFill>
              <a:latin typeface="+mj-lt"/>
              <a:ea typeface="넥슨Lv1고딕 Bold" panose="00000800000000000000" pitchFamily="2" charset="-127"/>
            </a:endParaRPr>
          </a:p>
        </p:txBody>
      </p:sp>
      <p:sp>
        <p:nvSpPr>
          <p:cNvPr id="5" name="Rectangle 4">
            <a:extLst>
              <a:ext uri="{FF2B5EF4-FFF2-40B4-BE49-F238E27FC236}">
                <a16:creationId xmlns:a16="http://schemas.microsoft.com/office/drawing/2014/main" id="{1028B7A0-024C-B189-17A6-BD0FF005B49E}"/>
              </a:ext>
            </a:extLst>
          </p:cNvPr>
          <p:cNvSpPr/>
          <p:nvPr/>
        </p:nvSpPr>
        <p:spPr>
          <a:xfrm>
            <a:off x="3075708" y="3173597"/>
            <a:ext cx="863293" cy="1480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59C39D-1A29-5979-25D9-F515067316E2}"/>
              </a:ext>
            </a:extLst>
          </p:cNvPr>
          <p:cNvSpPr/>
          <p:nvPr/>
        </p:nvSpPr>
        <p:spPr>
          <a:xfrm>
            <a:off x="3089563" y="4160834"/>
            <a:ext cx="863293" cy="1480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6D0430D-6247-3F1F-0E86-48C69685FF0D}"/>
              </a:ext>
            </a:extLst>
          </p:cNvPr>
          <p:cNvPicPr>
            <a:picLocks noChangeAspect="1"/>
          </p:cNvPicPr>
          <p:nvPr/>
        </p:nvPicPr>
        <p:blipFill rotWithShape="1">
          <a:blip r:embed="rId2"/>
          <a:srcRect t="1" b="-1851"/>
          <a:stretch/>
        </p:blipFill>
        <p:spPr>
          <a:xfrm>
            <a:off x="1656250" y="2706769"/>
            <a:ext cx="9932139" cy="2412273"/>
          </a:xfrm>
          <a:prstGeom prst="rect">
            <a:avLst/>
          </a:prstGeom>
        </p:spPr>
      </p:pic>
      <p:pic>
        <p:nvPicPr>
          <p:cNvPr id="14" name="Picture 13">
            <a:extLst>
              <a:ext uri="{FF2B5EF4-FFF2-40B4-BE49-F238E27FC236}">
                <a16:creationId xmlns:a16="http://schemas.microsoft.com/office/drawing/2014/main" id="{C08167D5-3C7B-D3F4-32A5-477F4425B5AB}"/>
              </a:ext>
            </a:extLst>
          </p:cNvPr>
          <p:cNvPicPr>
            <a:picLocks noChangeAspect="1"/>
          </p:cNvPicPr>
          <p:nvPr/>
        </p:nvPicPr>
        <p:blipFill>
          <a:blip r:embed="rId3"/>
          <a:stretch>
            <a:fillRect/>
          </a:stretch>
        </p:blipFill>
        <p:spPr>
          <a:xfrm>
            <a:off x="2661715" y="5148071"/>
            <a:ext cx="8708236" cy="277332"/>
          </a:xfrm>
          <a:prstGeom prst="rect">
            <a:avLst/>
          </a:prstGeom>
        </p:spPr>
      </p:pic>
      <p:sp>
        <p:nvSpPr>
          <p:cNvPr id="17" name="Rectangle 16">
            <a:extLst>
              <a:ext uri="{FF2B5EF4-FFF2-40B4-BE49-F238E27FC236}">
                <a16:creationId xmlns:a16="http://schemas.microsoft.com/office/drawing/2014/main" id="{17E6F765-F552-62CF-6FAA-C0895CCA6904}"/>
              </a:ext>
            </a:extLst>
          </p:cNvPr>
          <p:cNvSpPr/>
          <p:nvPr/>
        </p:nvSpPr>
        <p:spPr>
          <a:xfrm>
            <a:off x="1930460" y="2776244"/>
            <a:ext cx="745507" cy="244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D0D2374-8CD1-A22A-0612-30C6FC5CBAEB}"/>
              </a:ext>
            </a:extLst>
          </p:cNvPr>
          <p:cNvSpPr/>
          <p:nvPr/>
        </p:nvSpPr>
        <p:spPr>
          <a:xfrm>
            <a:off x="2030923" y="4081756"/>
            <a:ext cx="656258" cy="1480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649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F071F05-18DD-43B3-8318-408A311EC8C9}"/>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8C7734F3-BC05-4467-BD3A-CA5672615C7C}"/>
              </a:ext>
            </a:extLst>
          </p:cNvPr>
          <p:cNvSpPr txBox="1"/>
          <p:nvPr/>
        </p:nvSpPr>
        <p:spPr>
          <a:xfrm>
            <a:off x="1306383" y="531038"/>
            <a:ext cx="8718541"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Randomly Selected 30 Stocks</a:t>
            </a:r>
            <a:endParaRPr lang="ko-KR" altLang="en-US" sz="4400" b="1" spc="600" dirty="0">
              <a:solidFill>
                <a:schemeClr val="accent1">
                  <a:lumMod val="50000"/>
                </a:schemeClr>
              </a:solidFill>
              <a:latin typeface="+mj-lt"/>
              <a:ea typeface="넥슨Lv1고딕 Bold" panose="00000800000000000000" pitchFamily="2" charset="-127"/>
            </a:endParaRPr>
          </a:p>
        </p:txBody>
      </p:sp>
      <p:pic>
        <p:nvPicPr>
          <p:cNvPr id="1026" name="Picture 2">
            <a:extLst>
              <a:ext uri="{FF2B5EF4-FFF2-40B4-BE49-F238E27FC236}">
                <a16:creationId xmlns:a16="http://schemas.microsoft.com/office/drawing/2014/main" id="{6A4B66E5-2462-F8FE-23EA-744AE780A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236" y="1525626"/>
            <a:ext cx="8197835" cy="4801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23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2193893-B8C6-4FF9-AF11-2D4B54B80950}"/>
              </a:ext>
            </a:extLst>
          </p:cNvPr>
          <p:cNvSpPr txBox="1"/>
          <p:nvPr/>
        </p:nvSpPr>
        <p:spPr>
          <a:xfrm>
            <a:off x="1972175" y="2338790"/>
            <a:ext cx="4311655" cy="646331"/>
          </a:xfrm>
          <a:prstGeom prst="rect">
            <a:avLst/>
          </a:prstGeom>
          <a:noFill/>
        </p:spPr>
        <p:txBody>
          <a:bodyPr wrap="square" rtlCol="0">
            <a:spAutoFit/>
          </a:bodyPr>
          <a:lstStyle/>
          <a:p>
            <a:endParaRPr lang="en-US" altLang="ko-KR" sz="2400" dirty="0">
              <a:solidFill>
                <a:srgbClr val="334971"/>
              </a:solidFill>
              <a:ea typeface="넥슨Lv1고딕 Bold" panose="00000800000000000000" pitchFamily="2" charset="-127"/>
            </a:endParaRPr>
          </a:p>
          <a:p>
            <a:pPr marL="228600" indent="-228600">
              <a:buAutoNum type="arabicPeriod"/>
            </a:pPr>
            <a:endParaRPr lang="ko-KR" altLang="en-US" sz="1200" dirty="0">
              <a:solidFill>
                <a:srgbClr val="334971"/>
              </a:solidFill>
              <a:ea typeface="넥슨Lv1고딕 Bold" panose="00000800000000000000" pitchFamily="2" charset="-127"/>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2A8CBF1-90EE-02C3-59F4-4D9F3C353D12}"/>
                  </a:ext>
                </a:extLst>
              </p:cNvPr>
              <p:cNvSpPr txBox="1"/>
              <p:nvPr/>
            </p:nvSpPr>
            <p:spPr>
              <a:xfrm>
                <a:off x="1306383" y="1448586"/>
                <a:ext cx="10173004" cy="1015663"/>
              </a:xfrm>
              <a:prstGeom prst="rect">
                <a:avLst/>
              </a:prstGeom>
              <a:noFill/>
            </p:spPr>
            <p:txBody>
              <a:bodyPr wrap="square" rtlCol="0">
                <a:spAutoFit/>
              </a:bodyPr>
              <a:lstStyle/>
              <a:p>
                <a:r>
                  <a:rPr lang="en-KR" sz="2000" b="1" dirty="0"/>
                  <a:t>Differencing</a:t>
                </a:r>
                <a:r>
                  <a:rPr lang="en-KR" sz="2000" dirty="0"/>
                  <a:t> is a technique of transforming a </a:t>
                </a:r>
                <a:r>
                  <a:rPr lang="en-KR" sz="2000" b="1" dirty="0"/>
                  <a:t>non-stationary</a:t>
                </a:r>
                <a:r>
                  <a:rPr lang="en-KR" sz="2000" dirty="0"/>
                  <a:t> time series into a </a:t>
                </a:r>
                <a:r>
                  <a:rPr lang="en-KR" sz="2000" b="1" dirty="0"/>
                  <a:t>stationary</a:t>
                </a:r>
                <a:r>
                  <a:rPr lang="en-KR" sz="2000" dirty="0"/>
                  <a:t> one.</a:t>
                </a:r>
                <a:endParaRPr lang="en-US" sz="2000" dirty="0"/>
              </a:p>
              <a:p>
                <a:r>
                  <a:rPr lang="en-US" sz="2000" b="0" i="0" u="none" strike="noStrike" dirty="0">
                    <a:effectLst/>
                  </a:rPr>
                  <a:t>For example, if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 </m:t>
                    </m:r>
                  </m:oMath>
                </a14:m>
                <a:r>
                  <a:rPr lang="en-US" sz="2000" b="0" i="0" u="none" strike="noStrike" dirty="0">
                    <a:effectLst/>
                  </a:rPr>
                  <a:t>is the value of the series at time t, then integer differencing looks like this:</a:t>
                </a:r>
                <a:r>
                  <a:rPr lang="en-US" sz="2000" dirty="0"/>
                  <a:t>  </a:t>
                </a:r>
              </a:p>
              <a:p>
                <a:endParaRPr lang="en-KR" sz="2000" dirty="0"/>
              </a:p>
            </p:txBody>
          </p:sp>
        </mc:Choice>
        <mc:Fallback xmlns="">
          <p:sp>
            <p:nvSpPr>
              <p:cNvPr id="2" name="TextBox 1">
                <a:extLst>
                  <a:ext uri="{FF2B5EF4-FFF2-40B4-BE49-F238E27FC236}">
                    <a16:creationId xmlns:a16="http://schemas.microsoft.com/office/drawing/2014/main" id="{32A8CBF1-90EE-02C3-59F4-4D9F3C353D12}"/>
                  </a:ext>
                </a:extLst>
              </p:cNvPr>
              <p:cNvSpPr txBox="1">
                <a:spLocks noRot="1" noChangeAspect="1" noMove="1" noResize="1" noEditPoints="1" noAdjustHandles="1" noChangeArrowheads="1" noChangeShapeType="1" noTextEdit="1"/>
              </p:cNvSpPr>
              <p:nvPr/>
            </p:nvSpPr>
            <p:spPr>
              <a:xfrm>
                <a:off x="1306383" y="1448586"/>
                <a:ext cx="10173004" cy="1015663"/>
              </a:xfrm>
              <a:prstGeom prst="rect">
                <a:avLst/>
              </a:prstGeom>
              <a:blipFill>
                <a:blip r:embed="rId2"/>
                <a:stretch>
                  <a:fillRect l="-599" t="-36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D597817-9AB7-6FE0-5407-6933E5797461}"/>
                  </a:ext>
                </a:extLst>
              </p:cNvPr>
              <p:cNvSpPr txBox="1"/>
              <p:nvPr/>
            </p:nvSpPr>
            <p:spPr>
              <a:xfrm>
                <a:off x="1356672" y="2272607"/>
                <a:ext cx="3432341" cy="2819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𝑓𝑖𝑟𝑠𝑡</m:t>
                          </m:r>
                          <m:r>
                            <a:rPr lang="en-US" b="0" i="1" smtClean="0">
                              <a:latin typeface="Cambria Math" panose="02040503050406030204" pitchFamily="18" charset="0"/>
                            </a:rPr>
                            <m:t> </m:t>
                          </m:r>
                          <m:r>
                            <a:rPr lang="en-US" b="0" i="1" smtClean="0">
                              <a:latin typeface="Cambria Math" panose="02040503050406030204" pitchFamily="18" charset="0"/>
                            </a:rPr>
                            <m:t>𝑑𝑖𝑓𝑓𝑒𝑟𝑒𝑛𝑐𝑒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b>
                              <m:r>
                                <a:rPr lang="en-US" b="0" i="1" smtClean="0">
                                  <a:latin typeface="Cambria Math" panose="02040503050406030204" pitchFamily="18" charset="0"/>
                                </a:rPr>
                                <m:t>𝑡</m:t>
                              </m:r>
                            </m:sub>
                          </m:sSub>
                          <m:r>
                            <a:rPr lang="en-US" b="0" i="1" smtClean="0">
                              <a:latin typeface="Cambria Math" panose="02040503050406030204" pitchFamily="18" charset="0"/>
                            </a:rPr>
                            <m:t>= </m:t>
                          </m:r>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KR" dirty="0"/>
              </a:p>
            </p:txBody>
          </p:sp>
        </mc:Choice>
        <mc:Fallback xmlns="">
          <p:sp>
            <p:nvSpPr>
              <p:cNvPr id="3" name="TextBox 2">
                <a:extLst>
                  <a:ext uri="{FF2B5EF4-FFF2-40B4-BE49-F238E27FC236}">
                    <a16:creationId xmlns:a16="http://schemas.microsoft.com/office/drawing/2014/main" id="{1D597817-9AB7-6FE0-5407-6933E5797461}"/>
                  </a:ext>
                </a:extLst>
              </p:cNvPr>
              <p:cNvSpPr txBox="1">
                <a:spLocks noRot="1" noChangeAspect="1" noMove="1" noResize="1" noEditPoints="1" noAdjustHandles="1" noChangeArrowheads="1" noChangeShapeType="1" noTextEdit="1"/>
              </p:cNvSpPr>
              <p:nvPr/>
            </p:nvSpPr>
            <p:spPr>
              <a:xfrm>
                <a:off x="1356672" y="2272607"/>
                <a:ext cx="3432341" cy="281937"/>
              </a:xfrm>
              <a:prstGeom prst="rect">
                <a:avLst/>
              </a:prstGeom>
              <a:blipFill>
                <a:blip r:embed="rId3"/>
                <a:stretch>
                  <a:fillRect l="-1066" t="-23913" b="-3478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DF5909D-671E-6DF5-E151-1BFF2D182EA3}"/>
              </a:ext>
            </a:extLst>
          </p:cNvPr>
          <p:cNvSpPr txBox="1"/>
          <p:nvPr/>
        </p:nvSpPr>
        <p:spPr>
          <a:xfrm>
            <a:off x="1306383" y="2723682"/>
            <a:ext cx="10173004" cy="707886"/>
          </a:xfrm>
          <a:prstGeom prst="rect">
            <a:avLst/>
          </a:prstGeom>
          <a:noFill/>
        </p:spPr>
        <p:txBody>
          <a:bodyPr wrap="square" rtlCol="0">
            <a:spAutoFit/>
          </a:bodyPr>
          <a:lstStyle/>
          <a:p>
            <a:r>
              <a:rPr lang="en-US" sz="2000" b="1" dirty="0"/>
              <a:t>Then what is fractional differentiation?</a:t>
            </a:r>
          </a:p>
          <a:p>
            <a:endParaRPr lang="en-KR" sz="2000" dirty="0"/>
          </a:p>
        </p:txBody>
      </p:sp>
      <p:sp>
        <p:nvSpPr>
          <p:cNvPr id="10" name="TextBox 9">
            <a:extLst>
              <a:ext uri="{FF2B5EF4-FFF2-40B4-BE49-F238E27FC236}">
                <a16:creationId xmlns:a16="http://schemas.microsoft.com/office/drawing/2014/main" id="{BF0EAF0F-37E8-5B8E-DE76-0F99ED312F8A}"/>
              </a:ext>
            </a:extLst>
          </p:cNvPr>
          <p:cNvSpPr txBox="1"/>
          <p:nvPr/>
        </p:nvSpPr>
        <p:spPr>
          <a:xfrm>
            <a:off x="1306383" y="3145664"/>
            <a:ext cx="10331435" cy="707886"/>
          </a:xfrm>
          <a:prstGeom prst="rect">
            <a:avLst/>
          </a:prstGeom>
          <a:noFill/>
        </p:spPr>
        <p:txBody>
          <a:bodyPr wrap="square" rtlCol="0">
            <a:spAutoFit/>
          </a:bodyPr>
          <a:lstStyle/>
          <a:p>
            <a:r>
              <a:rPr lang="en-US" sz="2000" dirty="0"/>
              <a:t>Value at a current time can be expressed as the sum of all past values with the weight assigned for each of the past values (the weight is calculated using fractional derivative):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B346093-C448-A9A8-3DD9-732AA6B55CEA}"/>
                  </a:ext>
                </a:extLst>
              </p:cNvPr>
              <p:cNvSpPr txBox="1"/>
              <p:nvPr/>
            </p:nvSpPr>
            <p:spPr>
              <a:xfrm>
                <a:off x="3715440" y="4051949"/>
                <a:ext cx="2380560" cy="755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a:latin typeface="Cambria Math" panose="02040503050406030204" pitchFamily="18" charset="0"/>
                                </a:rPr>
                                <m:t>𝑋</m:t>
                              </m:r>
                            </m:e>
                          </m:acc>
                        </m:e>
                        <m:sub>
                          <m:r>
                            <a:rPr lang="en-US" b="0" i="1" smtClean="0">
                              <a:latin typeface="Cambria Math" panose="02040503050406030204" pitchFamily="18" charset="0"/>
                            </a:rPr>
                            <m:t>𝑡</m:t>
                          </m:r>
                        </m:sub>
                      </m:sSub>
                      <m:r>
                        <a:rPr lang="en-US" i="1">
                          <a:latin typeface="Cambria Math" panose="02040503050406030204" pitchFamily="18" charset="0"/>
                        </a:rPr>
                        <m:t> </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i="1">
                              <a:latin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e>
                      </m:nary>
                    </m:oMath>
                  </m:oMathPara>
                </a14:m>
                <a:endParaRPr lang="en-KR" dirty="0"/>
              </a:p>
            </p:txBody>
          </p:sp>
        </mc:Choice>
        <mc:Fallback xmlns="">
          <p:sp>
            <p:nvSpPr>
              <p:cNvPr id="19" name="TextBox 18">
                <a:extLst>
                  <a:ext uri="{FF2B5EF4-FFF2-40B4-BE49-F238E27FC236}">
                    <a16:creationId xmlns:a16="http://schemas.microsoft.com/office/drawing/2014/main" id="{DB346093-C448-A9A8-3DD9-732AA6B55CEA}"/>
                  </a:ext>
                </a:extLst>
              </p:cNvPr>
              <p:cNvSpPr txBox="1">
                <a:spLocks noRot="1" noChangeAspect="1" noMove="1" noResize="1" noEditPoints="1" noAdjustHandles="1" noChangeArrowheads="1" noChangeShapeType="1" noTextEdit="1"/>
              </p:cNvSpPr>
              <p:nvPr/>
            </p:nvSpPr>
            <p:spPr>
              <a:xfrm>
                <a:off x="3715440" y="4051949"/>
                <a:ext cx="2380560" cy="755528"/>
              </a:xfrm>
              <a:prstGeom prst="rect">
                <a:avLst/>
              </a:prstGeom>
              <a:blipFill>
                <a:blip r:embed="rId4"/>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1A5578A-75B9-FA5B-F38E-BA57502ACC34}"/>
              </a:ext>
            </a:extLst>
          </p:cNvPr>
          <p:cNvSpPr txBox="1"/>
          <p:nvPr/>
        </p:nvSpPr>
        <p:spPr>
          <a:xfrm>
            <a:off x="1306383" y="4968554"/>
            <a:ext cx="10173003" cy="1323439"/>
          </a:xfrm>
          <a:prstGeom prst="rect">
            <a:avLst/>
          </a:prstGeom>
          <a:noFill/>
        </p:spPr>
        <p:txBody>
          <a:bodyPr wrap="square" rtlCol="0">
            <a:spAutoFit/>
          </a:bodyPr>
          <a:lstStyle/>
          <a:p>
            <a:r>
              <a:rPr lang="en-US" sz="2000" dirty="0"/>
              <a:t>When </a:t>
            </a:r>
            <a:r>
              <a:rPr lang="en-US" sz="2000" b="1" dirty="0"/>
              <a:t>d</a:t>
            </a:r>
            <a:r>
              <a:rPr lang="en-US" sz="2000" dirty="0"/>
              <a:t> is a positive integer, like 1 (</a:t>
            </a:r>
            <a:r>
              <a:rPr lang="en-US" sz="2000" i="1" dirty="0"/>
              <a:t>first differencing</a:t>
            </a:r>
            <a:r>
              <a:rPr lang="en-US" sz="2000" dirty="0"/>
              <a:t>), the memory is removed, but when </a:t>
            </a:r>
            <a:r>
              <a:rPr lang="en-US" sz="2000" b="1" dirty="0"/>
              <a:t>d</a:t>
            </a:r>
            <a:r>
              <a:rPr lang="en-US" sz="2000" dirty="0"/>
              <a:t> is between 0 and 1, the </a:t>
            </a:r>
            <a:r>
              <a:rPr lang="en-US" sz="2000" b="1" dirty="0"/>
              <a:t>memory will be preserved</a:t>
            </a:r>
            <a:r>
              <a:rPr lang="en-US" sz="2000" dirty="0"/>
              <a:t>. We used a library called “</a:t>
            </a:r>
            <a:r>
              <a:rPr lang="en-US" sz="2000" b="1" dirty="0" err="1"/>
              <a:t>fracdiff</a:t>
            </a:r>
            <a:r>
              <a:rPr lang="en-US" sz="2000" dirty="0"/>
              <a:t>”, which has a function that automatically finds min </a:t>
            </a:r>
            <a:r>
              <a:rPr lang="en-US" sz="2000" b="1" dirty="0"/>
              <a:t>d</a:t>
            </a:r>
            <a:r>
              <a:rPr lang="en-US" sz="2000" dirty="0"/>
              <a:t> (order difference) which makes the data stationary.</a:t>
            </a:r>
          </a:p>
          <a:p>
            <a:endParaRPr lang="en-KR" sz="2000" dirty="0"/>
          </a:p>
        </p:txBody>
      </p:sp>
      <p:sp>
        <p:nvSpPr>
          <p:cNvPr id="6" name="TextBox 5">
            <a:extLst>
              <a:ext uri="{FF2B5EF4-FFF2-40B4-BE49-F238E27FC236}">
                <a16:creationId xmlns:a16="http://schemas.microsoft.com/office/drawing/2014/main" id="{55B20C31-F3FD-3CF7-B661-A2DE6FB54405}"/>
              </a:ext>
            </a:extLst>
          </p:cNvPr>
          <p:cNvSpPr txBox="1"/>
          <p:nvPr/>
        </p:nvSpPr>
        <p:spPr>
          <a:xfrm>
            <a:off x="1306383" y="544892"/>
            <a:ext cx="7443833"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(Fractional) Differencing</a:t>
            </a:r>
            <a:endParaRPr lang="ko-KR" altLang="en-US" sz="4400" b="1" spc="600" dirty="0">
              <a:solidFill>
                <a:schemeClr val="accent1">
                  <a:lumMod val="50000"/>
                </a:schemeClr>
              </a:solidFill>
              <a:latin typeface="+mj-lt"/>
              <a:ea typeface="넥슨Lv1고딕 Bold" panose="00000800000000000000" pitchFamily="2" charset="-127"/>
            </a:endParaRPr>
          </a:p>
        </p:txBody>
      </p:sp>
      <p:sp>
        <p:nvSpPr>
          <p:cNvPr id="7" name="직사각형 1">
            <a:extLst>
              <a:ext uri="{FF2B5EF4-FFF2-40B4-BE49-F238E27FC236}">
                <a16:creationId xmlns:a16="http://schemas.microsoft.com/office/drawing/2014/main" id="{969F3878-F8A9-1424-C103-3E58CDCD9622}"/>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Picture 10">
            <a:extLst>
              <a:ext uri="{FF2B5EF4-FFF2-40B4-BE49-F238E27FC236}">
                <a16:creationId xmlns:a16="http://schemas.microsoft.com/office/drawing/2014/main" id="{AB3F7723-4E3F-42C2-E33F-15696F26A40C}"/>
              </a:ext>
            </a:extLst>
          </p:cNvPr>
          <p:cNvPicPr>
            <a:picLocks noChangeAspect="1"/>
          </p:cNvPicPr>
          <p:nvPr/>
        </p:nvPicPr>
        <p:blipFill>
          <a:blip r:embed="rId5"/>
          <a:stretch>
            <a:fillRect/>
          </a:stretch>
        </p:blipFill>
        <p:spPr>
          <a:xfrm>
            <a:off x="6096000" y="4014093"/>
            <a:ext cx="4805652" cy="868714"/>
          </a:xfrm>
          <a:prstGeom prst="rect">
            <a:avLst/>
          </a:prstGeom>
        </p:spPr>
      </p:pic>
    </p:spTree>
    <p:extLst>
      <p:ext uri="{BB962C8B-B14F-4D97-AF65-F5344CB8AC3E}">
        <p14:creationId xmlns:p14="http://schemas.microsoft.com/office/powerpoint/2010/main" val="1462236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2193893-B8C6-4FF9-AF11-2D4B54B80950}"/>
              </a:ext>
            </a:extLst>
          </p:cNvPr>
          <p:cNvSpPr txBox="1"/>
          <p:nvPr/>
        </p:nvSpPr>
        <p:spPr>
          <a:xfrm>
            <a:off x="2209235" y="2944060"/>
            <a:ext cx="4215508" cy="646331"/>
          </a:xfrm>
          <a:prstGeom prst="rect">
            <a:avLst/>
          </a:prstGeom>
          <a:noFill/>
        </p:spPr>
        <p:txBody>
          <a:bodyPr wrap="square" rtlCol="0">
            <a:spAutoFit/>
          </a:bodyPr>
          <a:lstStyle/>
          <a:p>
            <a:endParaRPr lang="en-US" altLang="ko-KR" sz="2400" dirty="0">
              <a:solidFill>
                <a:srgbClr val="334971"/>
              </a:solidFill>
              <a:latin typeface="넥슨Lv1고딕 Bold" panose="00000800000000000000" pitchFamily="2" charset="-127"/>
              <a:ea typeface="넥슨Lv1고딕 Bold" panose="00000800000000000000" pitchFamily="2" charset="-127"/>
            </a:endParaRPr>
          </a:p>
          <a:p>
            <a:pPr marL="228600" indent="-228600">
              <a:buAutoNum type="arabicPeriod"/>
            </a:pPr>
            <a:endParaRPr lang="ko-KR" altLang="en-US" sz="1200" dirty="0">
              <a:solidFill>
                <a:srgbClr val="334971"/>
              </a:solidFill>
              <a:latin typeface="넥슨Lv1고딕 Bold" panose="00000800000000000000" pitchFamily="2" charset="-127"/>
              <a:ea typeface="넥슨Lv1고딕 Bold" panose="00000800000000000000" pitchFamily="2" charset="-127"/>
            </a:endParaRPr>
          </a:p>
        </p:txBody>
      </p:sp>
      <p:sp>
        <p:nvSpPr>
          <p:cNvPr id="17" name="TextBox 16">
            <a:extLst>
              <a:ext uri="{FF2B5EF4-FFF2-40B4-BE49-F238E27FC236}">
                <a16:creationId xmlns:a16="http://schemas.microsoft.com/office/drawing/2014/main" id="{93D452E9-6059-425A-B1A0-AA3DE91BE662}"/>
              </a:ext>
            </a:extLst>
          </p:cNvPr>
          <p:cNvSpPr txBox="1"/>
          <p:nvPr/>
        </p:nvSpPr>
        <p:spPr>
          <a:xfrm>
            <a:off x="1490083" y="314028"/>
            <a:ext cx="7958717" cy="861774"/>
          </a:xfrm>
          <a:prstGeom prst="rect">
            <a:avLst/>
          </a:prstGeom>
          <a:noFill/>
          <a:effectLst/>
        </p:spPr>
        <p:txBody>
          <a:bodyPr wrap="square" rtlCol="0">
            <a:spAutoFit/>
          </a:bodyPr>
          <a:lstStyle/>
          <a:p>
            <a:r>
              <a:rPr lang="en-US" altLang="ko-KR" sz="2500" b="1" u="sng" spc="600" dirty="0" err="1">
                <a:solidFill>
                  <a:schemeClr val="accent1">
                    <a:lumMod val="50000"/>
                  </a:schemeClr>
                </a:solidFill>
                <a:latin typeface="+mj-lt"/>
                <a:ea typeface="넥슨Lv1고딕 Bold" panose="00000800000000000000" pitchFamily="2" charset="-127"/>
              </a:rPr>
              <a:t>FracDiff</a:t>
            </a:r>
            <a:r>
              <a:rPr lang="en-US" altLang="ko-KR" sz="2500" b="1" spc="600" dirty="0">
                <a:solidFill>
                  <a:schemeClr val="accent1">
                    <a:lumMod val="50000"/>
                  </a:schemeClr>
                </a:solidFill>
                <a:latin typeface="+mj-lt"/>
                <a:ea typeface="넥슨Lv1고딕 Bold" panose="00000800000000000000" pitchFamily="2" charset="-127"/>
              </a:rPr>
              <a:t> applied to S&amp;P index (d=0.1, d=0.5, 0.84 (optimal))</a:t>
            </a:r>
            <a:endParaRPr lang="ko-KR" altLang="en-US" sz="2500" b="1" spc="600" dirty="0">
              <a:solidFill>
                <a:schemeClr val="accent1">
                  <a:lumMod val="50000"/>
                </a:schemeClr>
              </a:solidFill>
              <a:latin typeface="+mj-lt"/>
              <a:ea typeface="넥슨Lv1고딕 Bold" panose="00000800000000000000" pitchFamily="2" charset="-127"/>
            </a:endParaRPr>
          </a:p>
        </p:txBody>
      </p:sp>
      <p:pic>
        <p:nvPicPr>
          <p:cNvPr id="7" name="Picture 6">
            <a:extLst>
              <a:ext uri="{FF2B5EF4-FFF2-40B4-BE49-F238E27FC236}">
                <a16:creationId xmlns:a16="http://schemas.microsoft.com/office/drawing/2014/main" id="{3A1ED2E7-37AD-5F6D-9F4B-9743E5F85487}"/>
              </a:ext>
            </a:extLst>
          </p:cNvPr>
          <p:cNvPicPr>
            <a:picLocks noChangeAspect="1"/>
          </p:cNvPicPr>
          <p:nvPr/>
        </p:nvPicPr>
        <p:blipFill rotWithShape="1">
          <a:blip r:embed="rId2">
            <a:extLst>
              <a:ext uri="{28A0092B-C50C-407E-A947-70E740481C1C}">
                <a14:useLocalDpi xmlns:a14="http://schemas.microsoft.com/office/drawing/2010/main" val="0"/>
              </a:ext>
            </a:extLst>
          </a:blip>
          <a:srcRect r="1090"/>
          <a:stretch/>
        </p:blipFill>
        <p:spPr>
          <a:xfrm>
            <a:off x="1302325" y="1337013"/>
            <a:ext cx="10414414" cy="1090033"/>
          </a:xfrm>
          <a:prstGeom prst="rect">
            <a:avLst/>
          </a:prstGeom>
        </p:spPr>
      </p:pic>
      <p:pic>
        <p:nvPicPr>
          <p:cNvPr id="11" name="Picture 10">
            <a:extLst>
              <a:ext uri="{FF2B5EF4-FFF2-40B4-BE49-F238E27FC236}">
                <a16:creationId xmlns:a16="http://schemas.microsoft.com/office/drawing/2014/main" id="{3A28B386-14A2-CF6C-EEEC-51844E8E1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325" y="2673723"/>
            <a:ext cx="10414414" cy="1123970"/>
          </a:xfrm>
          <a:prstGeom prst="rect">
            <a:avLst/>
          </a:prstGeom>
        </p:spPr>
      </p:pic>
      <p:sp>
        <p:nvSpPr>
          <p:cNvPr id="2" name="직사각형 1">
            <a:extLst>
              <a:ext uri="{FF2B5EF4-FFF2-40B4-BE49-F238E27FC236}">
                <a16:creationId xmlns:a16="http://schemas.microsoft.com/office/drawing/2014/main" id="{AD157D50-F447-74C1-EE3D-DB38B6A67BD8}"/>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Picture 2" descr="A picture containing line, plot, screenshot&#10;&#10;Description automatically generated">
            <a:extLst>
              <a:ext uri="{FF2B5EF4-FFF2-40B4-BE49-F238E27FC236}">
                <a16:creationId xmlns:a16="http://schemas.microsoft.com/office/drawing/2014/main" id="{30CA2799-841D-6703-363A-35AE9A276D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0589" y="4044370"/>
            <a:ext cx="8068308" cy="2150325"/>
          </a:xfrm>
          <a:prstGeom prst="rect">
            <a:avLst/>
          </a:prstGeom>
        </p:spPr>
      </p:pic>
    </p:spTree>
    <p:extLst>
      <p:ext uri="{BB962C8B-B14F-4D97-AF65-F5344CB8AC3E}">
        <p14:creationId xmlns:p14="http://schemas.microsoft.com/office/powerpoint/2010/main" val="3453067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4FA5B30-97AA-D349-AF96-371F3AB054FB}"/>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6DE45298-36E5-A575-2FA1-2FFC5AD4D095}"/>
              </a:ext>
            </a:extLst>
          </p:cNvPr>
          <p:cNvSpPr txBox="1"/>
          <p:nvPr/>
        </p:nvSpPr>
        <p:spPr>
          <a:xfrm>
            <a:off x="1236878" y="401395"/>
            <a:ext cx="9718244" cy="2123658"/>
          </a:xfrm>
          <a:prstGeom prst="rect">
            <a:avLst/>
          </a:prstGeom>
          <a:noFill/>
          <a:effectLst/>
        </p:spPr>
        <p:txBody>
          <a:bodyPr wrap="square" rtlCol="0">
            <a:spAutoFit/>
          </a:bodyPr>
          <a:lstStyle/>
          <a:p>
            <a:r>
              <a:rPr lang="en-US" altLang="ko-KR" sz="4400" b="1" spc="600" dirty="0">
                <a:solidFill>
                  <a:schemeClr val="accent1">
                    <a:lumMod val="50000"/>
                  </a:schemeClr>
                </a:solidFill>
                <a:latin typeface="+mj-lt"/>
                <a:ea typeface="넥슨Lv1고딕 Bold" panose="00000800000000000000" pitchFamily="2" charset="-127"/>
              </a:rPr>
              <a:t>Is there a relationship between returns and fractionally differentiated log prices?</a:t>
            </a:r>
            <a:endParaRPr lang="ko-KR" altLang="en-US" sz="4400" b="1" spc="600" dirty="0">
              <a:solidFill>
                <a:schemeClr val="accent1">
                  <a:lumMod val="50000"/>
                </a:schemeClr>
              </a:solidFill>
              <a:latin typeface="+mj-lt"/>
              <a:ea typeface="넥슨Lv1고딕 Bold" panose="00000800000000000000" pitchFamily="2" charset="-127"/>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8B389F6-AC9D-F727-F915-A9DA839190DF}"/>
                  </a:ext>
                </a:extLst>
              </p:cNvPr>
              <p:cNvSpPr txBox="1"/>
              <p:nvPr/>
            </p:nvSpPr>
            <p:spPr>
              <a:xfrm>
                <a:off x="4656065" y="2951946"/>
                <a:ext cx="3185607"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𝑅</m:t>
                          </m:r>
                        </m:e>
                        <m:sub>
                          <m:r>
                            <a:rPr lang="en-US" sz="2500" b="0" i="1" smtClean="0">
                              <a:latin typeface="Cambria Math" panose="02040503050406030204" pitchFamily="18" charset="0"/>
                            </a:rPr>
                            <m:t>𝑡</m:t>
                          </m:r>
                        </m:sub>
                      </m:sSub>
                      <m:r>
                        <a:rPr lang="en-US" sz="2500" i="1">
                          <a:latin typeface="Cambria Math" panose="02040503050406030204" pitchFamily="18" charset="0"/>
                          <a:ea typeface="Cambria Math" panose="02040503050406030204" pitchFamily="18" charset="0"/>
                        </a:rPr>
                        <m:t>≈</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sub>
                          </m:sSub>
                        </m:e>
                      </m:func>
                      <m:r>
                        <a:rPr lang="en-US" sz="2500" b="0" i="1" smtClean="0">
                          <a:latin typeface="Cambria Math" panose="02040503050406030204" pitchFamily="18" charset="0"/>
                        </a:rPr>
                        <m:t> −</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r>
                                <a:rPr lang="en-US" sz="2500" b="0" i="1" smtClean="0">
                                  <a:latin typeface="Cambria Math" panose="02040503050406030204" pitchFamily="18" charset="0"/>
                                </a:rPr>
                                <m:t>−1</m:t>
                              </m:r>
                            </m:sub>
                          </m:sSub>
                        </m:e>
                      </m:func>
                    </m:oMath>
                  </m:oMathPara>
                </a14:m>
                <a:endParaRPr lang="en-US" sz="2500" dirty="0"/>
              </a:p>
            </p:txBody>
          </p:sp>
        </mc:Choice>
        <mc:Fallback xmlns="">
          <p:sp>
            <p:nvSpPr>
              <p:cNvPr id="6" name="TextBox 5">
                <a:extLst>
                  <a:ext uri="{FF2B5EF4-FFF2-40B4-BE49-F238E27FC236}">
                    <a16:creationId xmlns:a16="http://schemas.microsoft.com/office/drawing/2014/main" id="{A8B389F6-AC9D-F727-F915-A9DA839190DF}"/>
                  </a:ext>
                </a:extLst>
              </p:cNvPr>
              <p:cNvSpPr txBox="1">
                <a:spLocks noRot="1" noChangeAspect="1" noMove="1" noResize="1" noEditPoints="1" noAdjustHandles="1" noChangeArrowheads="1" noChangeShapeType="1" noTextEdit="1"/>
              </p:cNvSpPr>
              <p:nvPr/>
            </p:nvSpPr>
            <p:spPr>
              <a:xfrm>
                <a:off x="4656065" y="2951946"/>
                <a:ext cx="3185607" cy="477054"/>
              </a:xfrm>
              <a:prstGeom prst="rect">
                <a:avLst/>
              </a:prstGeom>
              <a:blipFill>
                <a:blip r:embed="rId2"/>
                <a:stretch>
                  <a:fillRect b="-164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DE9AF1E-8FE4-3E43-B043-E3F3F6E22605}"/>
                  </a:ext>
                </a:extLst>
              </p:cNvPr>
              <p:cNvSpPr txBox="1"/>
              <p:nvPr/>
            </p:nvSpPr>
            <p:spPr>
              <a:xfrm>
                <a:off x="977213" y="3700494"/>
                <a:ext cx="10813005" cy="8388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500" i="1" smtClean="0">
                              <a:latin typeface="Cambria Math" panose="02040503050406030204" pitchFamily="18" charset="0"/>
                              <a:ea typeface="Cambria Math" panose="02040503050406030204" pitchFamily="18" charset="0"/>
                            </a:rPr>
                          </m:ctrlPr>
                        </m:accPr>
                        <m:e>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𝑆</m:t>
                              </m:r>
                            </m:e>
                            <m:sub>
                              <m:r>
                                <a:rPr lang="en-US" sz="2500" b="0" i="1" smtClean="0">
                                  <a:latin typeface="Cambria Math" panose="02040503050406030204" pitchFamily="18" charset="0"/>
                                  <a:ea typeface="Cambria Math" panose="02040503050406030204" pitchFamily="18" charset="0"/>
                                </a:rPr>
                                <m:t>𝑡</m:t>
                              </m:r>
                            </m:sub>
                          </m:sSub>
                        </m:e>
                      </m:acc>
                      <m:r>
                        <a:rPr lang="en-US" sz="2500" b="0" i="1" smtClean="0">
                          <a:latin typeface="Cambria Math" panose="02040503050406030204" pitchFamily="18" charset="0"/>
                          <a:ea typeface="Cambria Math" panose="02040503050406030204" pitchFamily="18" charset="0"/>
                        </a:rPr>
                        <m:t>=</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sub>
                          </m:sSub>
                        </m:e>
                      </m:func>
                      <m:r>
                        <a:rPr lang="en-US" sz="2500" b="0" i="1" smtClean="0">
                          <a:latin typeface="Cambria Math" panose="02040503050406030204" pitchFamily="18" charset="0"/>
                        </a:rPr>
                        <m:t> −</m:t>
                      </m:r>
                      <m:r>
                        <a:rPr lang="en-US" sz="2500" b="0" i="1" smtClean="0">
                          <a:latin typeface="Cambria Math" panose="02040503050406030204" pitchFamily="18" charset="0"/>
                        </a:rPr>
                        <m:t>𝑑</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r>
                                <a:rPr lang="en-US" sz="2500" b="0" i="1" smtClean="0">
                                  <a:latin typeface="Cambria Math" panose="02040503050406030204" pitchFamily="18" charset="0"/>
                                </a:rPr>
                                <m:t>−1</m:t>
                              </m:r>
                            </m:sub>
                          </m:sSub>
                          <m:r>
                            <a:rPr lang="en-US" sz="2500" b="0" i="1" smtClean="0">
                              <a:latin typeface="Cambria Math" panose="02040503050406030204" pitchFamily="18" charset="0"/>
                            </a:rPr>
                            <m:t>+</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r>
                                    <a:rPr lang="en-US" sz="2500" b="0" i="1" smtClean="0">
                                      <a:latin typeface="Cambria Math" panose="02040503050406030204" pitchFamily="18" charset="0"/>
                                    </a:rPr>
                                    <m:t>−2</m:t>
                                  </m:r>
                                </m:sub>
                              </m:sSub>
                              <m:r>
                                <a:rPr lang="en-US" sz="2500" b="0" i="1" smtClean="0">
                                  <a:latin typeface="Cambria Math" panose="02040503050406030204" pitchFamily="18" charset="0"/>
                                </a:rPr>
                                <m:t> </m:t>
                              </m:r>
                            </m:e>
                          </m:func>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𝑑</m:t>
                              </m:r>
                              <m:d>
                                <m:dPr>
                                  <m:ctrlPr>
                                    <a:rPr lang="en-US" sz="2500" b="0" i="1" smtClean="0">
                                      <a:latin typeface="Cambria Math" panose="02040503050406030204" pitchFamily="18" charset="0"/>
                                    </a:rPr>
                                  </m:ctrlPr>
                                </m:dPr>
                                <m:e>
                                  <m:r>
                                    <a:rPr lang="en-US" sz="2500" i="1">
                                      <a:latin typeface="Cambria Math" panose="02040503050406030204" pitchFamily="18" charset="0"/>
                                    </a:rPr>
                                    <m:t>𝑑</m:t>
                                  </m:r>
                                  <m:r>
                                    <a:rPr lang="en-US" sz="2500" i="1">
                                      <a:latin typeface="Cambria Math" panose="02040503050406030204" pitchFamily="18" charset="0"/>
                                    </a:rPr>
                                    <m:t>−1</m:t>
                                  </m:r>
                                </m:e>
                              </m:d>
                            </m:num>
                            <m:den>
                              <m:r>
                                <a:rPr lang="en-US" sz="2500" b="0" i="1" smtClean="0">
                                  <a:latin typeface="Cambria Math" panose="02040503050406030204" pitchFamily="18" charset="0"/>
                                </a:rPr>
                                <m:t>2!</m:t>
                              </m:r>
                            </m:den>
                          </m:f>
                        </m:e>
                      </m:func>
                      <m:r>
                        <a:rPr lang="en-US" sz="2500" b="0" i="1" smtClean="0">
                          <a:latin typeface="Cambria Math" panose="02040503050406030204" pitchFamily="18" charset="0"/>
                        </a:rPr>
                        <m:t> −</m:t>
                      </m:r>
                      <m:func>
                        <m:funcPr>
                          <m:ctrlPr>
                            <a:rPr lang="en-US" sz="2500" b="0" i="1" smtClean="0">
                              <a:latin typeface="Cambria Math" panose="02040503050406030204" pitchFamily="18" charset="0"/>
                            </a:rPr>
                          </m:ctrlPr>
                        </m:funcPr>
                        <m:fName>
                          <m:r>
                            <m:rPr>
                              <m:sty m:val="p"/>
                            </m:rPr>
                            <a:rPr lang="en-US" sz="2500" b="0" i="0" smtClean="0">
                              <a:latin typeface="Cambria Math" panose="02040503050406030204" pitchFamily="18" charset="0"/>
                            </a:rPr>
                            <m:t>log</m:t>
                          </m:r>
                        </m:fName>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𝑆</m:t>
                              </m:r>
                            </m:e>
                            <m:sub>
                              <m:r>
                                <a:rPr lang="en-US" sz="2500" b="0" i="1" smtClean="0">
                                  <a:latin typeface="Cambria Math" panose="02040503050406030204" pitchFamily="18" charset="0"/>
                                </a:rPr>
                                <m:t>𝑡</m:t>
                              </m:r>
                              <m:r>
                                <a:rPr lang="en-US" sz="2500" b="0" i="1" smtClean="0">
                                  <a:latin typeface="Cambria Math" panose="02040503050406030204" pitchFamily="18" charset="0"/>
                                </a:rPr>
                                <m:t>−3</m:t>
                              </m:r>
                            </m:sub>
                          </m:sSub>
                        </m:e>
                      </m:func>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𝑑</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𝑑</m:t>
                              </m:r>
                              <m:r>
                                <a:rPr lang="en-US" sz="2500" b="0" i="1" smtClean="0">
                                  <a:latin typeface="Cambria Math" panose="02040503050406030204" pitchFamily="18" charset="0"/>
                                </a:rPr>
                                <m:t>−1</m:t>
                              </m:r>
                            </m:e>
                          </m:d>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𝑑</m:t>
                              </m:r>
                              <m:r>
                                <a:rPr lang="en-US" sz="2500" b="0" i="1" smtClean="0">
                                  <a:latin typeface="Cambria Math" panose="02040503050406030204" pitchFamily="18" charset="0"/>
                                </a:rPr>
                                <m:t>−2</m:t>
                              </m:r>
                            </m:e>
                          </m:d>
                        </m:num>
                        <m:den>
                          <m:r>
                            <a:rPr lang="en-US" sz="2500" b="0" i="1" smtClean="0">
                              <a:latin typeface="Cambria Math" panose="02040503050406030204" pitchFamily="18" charset="0"/>
                            </a:rPr>
                            <m:t>3!</m:t>
                          </m:r>
                        </m:den>
                      </m:f>
                      <m:r>
                        <a:rPr lang="en-US" sz="2500" b="0" i="1" smtClean="0">
                          <a:latin typeface="Cambria Math" panose="02040503050406030204" pitchFamily="18" charset="0"/>
                        </a:rPr>
                        <m:t>+ …</m:t>
                      </m:r>
                    </m:oMath>
                  </m:oMathPara>
                </a14:m>
                <a:endParaRPr lang="en-US" sz="2500" b="0" dirty="0"/>
              </a:p>
            </p:txBody>
          </p:sp>
        </mc:Choice>
        <mc:Fallback xmlns="">
          <p:sp>
            <p:nvSpPr>
              <p:cNvPr id="8" name="TextBox 7">
                <a:extLst>
                  <a:ext uri="{FF2B5EF4-FFF2-40B4-BE49-F238E27FC236}">
                    <a16:creationId xmlns:a16="http://schemas.microsoft.com/office/drawing/2014/main" id="{0DE9AF1E-8FE4-3E43-B043-E3F3F6E22605}"/>
                  </a:ext>
                </a:extLst>
              </p:cNvPr>
              <p:cNvSpPr txBox="1">
                <a:spLocks noRot="1" noChangeAspect="1" noMove="1" noResize="1" noEditPoints="1" noAdjustHandles="1" noChangeArrowheads="1" noChangeShapeType="1" noTextEdit="1"/>
              </p:cNvSpPr>
              <p:nvPr/>
            </p:nvSpPr>
            <p:spPr>
              <a:xfrm>
                <a:off x="977213" y="3700494"/>
                <a:ext cx="10813005" cy="838884"/>
              </a:xfrm>
              <a:prstGeom prst="rect">
                <a:avLst/>
              </a:prstGeom>
              <a:blipFill>
                <a:blip r:embed="rId3"/>
                <a:stretch>
                  <a:fillRect/>
                </a:stretch>
              </a:blipFill>
            </p:spPr>
            <p:txBody>
              <a:bodyPr/>
              <a:lstStyle/>
              <a:p>
                <a:r>
                  <a:rPr lang="en-US">
                    <a:noFill/>
                  </a:rPr>
                  <a:t> </a:t>
                </a:r>
              </a:p>
            </p:txBody>
          </p:sp>
        </mc:Fallback>
      </mc:AlternateContent>
      <p:sp>
        <p:nvSpPr>
          <p:cNvPr id="9" name="Right Brace 8">
            <a:extLst>
              <a:ext uri="{FF2B5EF4-FFF2-40B4-BE49-F238E27FC236}">
                <a16:creationId xmlns:a16="http://schemas.microsoft.com/office/drawing/2014/main" id="{64A23A49-E0EE-89EB-39E1-565DBD23C5DA}"/>
              </a:ext>
            </a:extLst>
          </p:cNvPr>
          <p:cNvSpPr/>
          <p:nvPr/>
        </p:nvSpPr>
        <p:spPr>
          <a:xfrm rot="5400000">
            <a:off x="2816862" y="3915574"/>
            <a:ext cx="369331" cy="161693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B28EF29-3F0B-0D92-7243-54F8F2BFCA27}"/>
                  </a:ext>
                </a:extLst>
              </p:cNvPr>
              <p:cNvSpPr txBox="1"/>
              <p:nvPr/>
            </p:nvSpPr>
            <p:spPr>
              <a:xfrm>
                <a:off x="1040025" y="4975766"/>
                <a:ext cx="11151975" cy="646331"/>
              </a:xfrm>
              <a:prstGeom prst="rect">
                <a:avLst/>
              </a:prstGeom>
              <a:noFill/>
            </p:spPr>
            <p:txBody>
              <a:bodyPr wrap="square" rtlCol="0">
                <a:spAutoFit/>
              </a:bodyPr>
              <a:lstStyle/>
              <a:p>
                <a:r>
                  <a:rPr lang="en-US" dirty="0"/>
                  <a:t>It approximately equals to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𝑡</m:t>
                        </m:r>
                      </m:sub>
                    </m:sSub>
                  </m:oMath>
                </a14:m>
                <a:r>
                  <a:rPr lang="en-US" dirty="0"/>
                  <a:t> if </a:t>
                </a:r>
                <a:r>
                  <a:rPr lang="en-US" b="1" dirty="0"/>
                  <a:t>d (order difference) </a:t>
                </a:r>
                <a:r>
                  <a:rPr lang="en-US" dirty="0"/>
                  <a:t>is high, which also cause other terms in the above sum approach zero. </a:t>
                </a:r>
                <a:endParaRPr lang="en-US" b="1" dirty="0"/>
              </a:p>
            </p:txBody>
          </p:sp>
        </mc:Choice>
        <mc:Fallback xmlns="">
          <p:sp>
            <p:nvSpPr>
              <p:cNvPr id="10" name="TextBox 9">
                <a:extLst>
                  <a:ext uri="{FF2B5EF4-FFF2-40B4-BE49-F238E27FC236}">
                    <a16:creationId xmlns:a16="http://schemas.microsoft.com/office/drawing/2014/main" id="{1B28EF29-3F0B-0D92-7243-54F8F2BFCA27}"/>
                  </a:ext>
                </a:extLst>
              </p:cNvPr>
              <p:cNvSpPr txBox="1">
                <a:spLocks noRot="1" noChangeAspect="1" noMove="1" noResize="1" noEditPoints="1" noAdjustHandles="1" noChangeArrowheads="1" noChangeShapeType="1" noTextEdit="1"/>
              </p:cNvSpPr>
              <p:nvPr/>
            </p:nvSpPr>
            <p:spPr>
              <a:xfrm>
                <a:off x="1040025" y="4975766"/>
                <a:ext cx="11151975" cy="646331"/>
              </a:xfrm>
              <a:prstGeom prst="rect">
                <a:avLst/>
              </a:prstGeom>
              <a:blipFill>
                <a:blip r:embed="rId4"/>
                <a:stretch>
                  <a:fillRect l="-492" t="-4717" b="-1415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DF60AABA-5E0B-07DC-A290-7BE7FB01DE44}"/>
              </a:ext>
            </a:extLst>
          </p:cNvPr>
          <p:cNvSpPr/>
          <p:nvPr/>
        </p:nvSpPr>
        <p:spPr>
          <a:xfrm>
            <a:off x="1814945" y="3851564"/>
            <a:ext cx="2576946" cy="62345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9D6890-395E-F5E9-5848-E7200BA8040C}"/>
                  </a:ext>
                </a:extLst>
              </p:cNvPr>
              <p:cNvSpPr txBox="1"/>
              <p:nvPr/>
            </p:nvSpPr>
            <p:spPr>
              <a:xfrm>
                <a:off x="1705044" y="5707711"/>
                <a:ext cx="9821935" cy="655051"/>
              </a:xfrm>
              <a:prstGeom prst="rect">
                <a:avLst/>
              </a:prstGeom>
              <a:noFill/>
            </p:spPr>
            <p:txBody>
              <a:bodyPr wrap="square">
                <a:spAutoFit/>
              </a:bodyPr>
              <a:lstStyle/>
              <a:p>
                <a:pPr algn="ctr"/>
                <a:r>
                  <a:rPr lang="en-US" dirty="0"/>
                  <a:t>S</a:t>
                </a:r>
                <a:r>
                  <a:rPr lang="en-US" sz="1800" dirty="0"/>
                  <a:t>ince we </a:t>
                </a:r>
                <a:r>
                  <a:rPr lang="en-US" dirty="0"/>
                  <a:t>saw that</a:t>
                </a:r>
                <a:r>
                  <a:rPr lang="en-US" sz="1800" dirty="0"/>
                  <a:t> there is a relationship between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 </m:t>
                    </m:r>
                  </m:oMath>
                </a14:m>
                <a:r>
                  <a:rPr lang="en-US" sz="1800" dirty="0"/>
                  <a:t>and fractionally differentiated </a:t>
                </a:r>
                <a:r>
                  <a:rPr lang="en-US" dirty="0"/>
                  <a:t>log price</a:t>
                </a:r>
                <a:r>
                  <a:rPr lang="en-US" sz="1800" dirty="0"/>
                  <a:t>, we </a:t>
                </a:r>
                <a:r>
                  <a:rPr lang="en-US" dirty="0"/>
                  <a:t>will model directly forecast</a:t>
                </a:r>
                <a:r>
                  <a:rPr lang="en-US" sz="1800" dirty="0"/>
                  <a:t>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i="1">
                            <a:latin typeface="Cambria Math" panose="02040503050406030204" pitchFamily="18" charset="0"/>
                          </a:rPr>
                          <m:t>𝑡</m:t>
                        </m:r>
                        <m:r>
                          <a:rPr lang="en-US" sz="1800" b="0" i="1" smtClean="0">
                            <a:latin typeface="Cambria Math" panose="02040503050406030204" pitchFamily="18" charset="0"/>
                          </a:rPr>
                          <m:t>+1</m:t>
                        </m:r>
                      </m:sub>
                    </m:sSub>
                  </m:oMath>
                </a14:m>
                <a:r>
                  <a:rPr lang="en-US" sz="1800" dirty="0"/>
                  <a:t> using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e>
                    </m:acc>
                  </m:oMath>
                </a14:m>
                <a:r>
                  <a:rPr lang="en-US" sz="1800" dirty="0"/>
                  <a:t> as a feature.</a:t>
                </a:r>
              </a:p>
            </p:txBody>
          </p:sp>
        </mc:Choice>
        <mc:Fallback xmlns="">
          <p:sp>
            <p:nvSpPr>
              <p:cNvPr id="13" name="TextBox 12">
                <a:extLst>
                  <a:ext uri="{FF2B5EF4-FFF2-40B4-BE49-F238E27FC236}">
                    <a16:creationId xmlns:a16="http://schemas.microsoft.com/office/drawing/2014/main" id="{0B9D6890-395E-F5E9-5848-E7200BA8040C}"/>
                  </a:ext>
                </a:extLst>
              </p:cNvPr>
              <p:cNvSpPr txBox="1">
                <a:spLocks noRot="1" noChangeAspect="1" noMove="1" noResize="1" noEditPoints="1" noAdjustHandles="1" noChangeArrowheads="1" noChangeShapeType="1" noTextEdit="1"/>
              </p:cNvSpPr>
              <p:nvPr/>
            </p:nvSpPr>
            <p:spPr>
              <a:xfrm>
                <a:off x="1705044" y="5707711"/>
                <a:ext cx="9821935" cy="655051"/>
              </a:xfrm>
              <a:prstGeom prst="rect">
                <a:avLst/>
              </a:prstGeom>
              <a:blipFill>
                <a:blip r:embed="rId5"/>
                <a:stretch>
                  <a:fillRect t="-4630" b="-13889"/>
                </a:stretch>
              </a:blipFill>
            </p:spPr>
            <p:txBody>
              <a:bodyPr/>
              <a:lstStyle/>
              <a:p>
                <a:r>
                  <a:rPr lang="en-US">
                    <a:noFill/>
                  </a:rPr>
                  <a:t> </a:t>
                </a:r>
              </a:p>
            </p:txBody>
          </p:sp>
        </mc:Fallback>
      </mc:AlternateContent>
    </p:spTree>
    <p:extLst>
      <p:ext uri="{BB962C8B-B14F-4D97-AF65-F5344CB8AC3E}">
        <p14:creationId xmlns:p14="http://schemas.microsoft.com/office/powerpoint/2010/main" val="277255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7C3B96-2582-9D8C-5CC1-E426CBD7E948}"/>
              </a:ext>
            </a:extLst>
          </p:cNvPr>
          <p:cNvSpPr txBox="1"/>
          <p:nvPr/>
        </p:nvSpPr>
        <p:spPr>
          <a:xfrm>
            <a:off x="2800023" y="2133976"/>
            <a:ext cx="6869040" cy="1415772"/>
          </a:xfrm>
          <a:prstGeom prst="rect">
            <a:avLst/>
          </a:prstGeom>
          <a:noFill/>
        </p:spPr>
        <p:txBody>
          <a:bodyPr wrap="square" rtlCol="0">
            <a:spAutoFit/>
          </a:bodyPr>
          <a:lstStyle/>
          <a:p>
            <a:pPr algn="ctr"/>
            <a:r>
              <a:rPr lang="en-US" sz="2200" b="1" dirty="0"/>
              <a:t>A</a:t>
            </a:r>
            <a:r>
              <a:rPr lang="en-KR" sz="2200" b="1" dirty="0"/>
              <a:t> type of recurrent neural network (RNN) that is designed to capture long-term dependencies in sequential data</a:t>
            </a:r>
            <a:endParaRPr lang="en-US" sz="2000" b="1" dirty="0">
              <a:latin typeface="+mj-lt"/>
            </a:endParaRPr>
          </a:p>
          <a:p>
            <a:pPr algn="ctr"/>
            <a:endParaRPr lang="en-KR" sz="2000" dirty="0">
              <a:latin typeface="+mj-lt"/>
            </a:endParaRPr>
          </a:p>
        </p:txBody>
      </p:sp>
      <p:sp>
        <p:nvSpPr>
          <p:cNvPr id="3" name="직사각형 1">
            <a:extLst>
              <a:ext uri="{FF2B5EF4-FFF2-40B4-BE49-F238E27FC236}">
                <a16:creationId xmlns:a16="http://schemas.microsoft.com/office/drawing/2014/main" id="{554509C4-1465-679F-0B13-75A08AE15142}"/>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6745E03F-D896-B336-A188-FB49AD6B7A55}"/>
              </a:ext>
            </a:extLst>
          </p:cNvPr>
          <p:cNvSpPr txBox="1"/>
          <p:nvPr/>
        </p:nvSpPr>
        <p:spPr>
          <a:xfrm>
            <a:off x="1681058" y="487371"/>
            <a:ext cx="8829883" cy="2123658"/>
          </a:xfrm>
          <a:prstGeom prst="rect">
            <a:avLst/>
          </a:prstGeom>
          <a:noFill/>
        </p:spPr>
        <p:txBody>
          <a:bodyPr wrap="square">
            <a:spAutoFit/>
          </a:bodyPr>
          <a:lstStyle/>
          <a:p>
            <a:r>
              <a:rPr lang="en-US" altLang="ko-KR" sz="4400" b="1" spc="600" dirty="0">
                <a:solidFill>
                  <a:schemeClr val="accent1">
                    <a:lumMod val="50000"/>
                  </a:schemeClr>
                </a:solidFill>
                <a:latin typeface="+mj-lt"/>
                <a:ea typeface="넥슨Lv1고딕 Bold" panose="00000800000000000000" pitchFamily="2" charset="-127"/>
              </a:rPr>
              <a:t>Long Short-Term Memory (LSTM) Model </a:t>
            </a:r>
          </a:p>
          <a:p>
            <a:endParaRPr lang="ko-KR" altLang="en-US" sz="4400" b="1" spc="600" dirty="0">
              <a:solidFill>
                <a:schemeClr val="accent1">
                  <a:lumMod val="50000"/>
                </a:schemeClr>
              </a:solidFill>
              <a:latin typeface="+mj-lt"/>
              <a:ea typeface="넥슨Lv1고딕 Bold" panose="00000800000000000000" pitchFamily="2" charset="-127"/>
            </a:endParaRPr>
          </a:p>
        </p:txBody>
      </p:sp>
      <p:pic>
        <p:nvPicPr>
          <p:cNvPr id="2050" name="Picture 2" descr="An Intuitive Explanation of LSTM. Recurrent Neural Networks | by Ottavio  Calzone | Medium">
            <a:extLst>
              <a:ext uri="{FF2B5EF4-FFF2-40B4-BE49-F238E27FC236}">
                <a16:creationId xmlns:a16="http://schemas.microsoft.com/office/drawing/2014/main" id="{445B1192-0D7A-61C3-4CE3-DC9DC54B4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1394" y="3315938"/>
            <a:ext cx="4686299" cy="237648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6E18E9E-23A5-0154-21F1-D5971170CFDC}"/>
              </a:ext>
            </a:extLst>
          </p:cNvPr>
          <p:cNvSpPr txBox="1"/>
          <p:nvPr/>
        </p:nvSpPr>
        <p:spPr>
          <a:xfrm>
            <a:off x="9076571" y="3429000"/>
            <a:ext cx="2701636" cy="1708160"/>
          </a:xfrm>
          <a:prstGeom prst="rect">
            <a:avLst/>
          </a:prstGeom>
          <a:noFill/>
        </p:spPr>
        <p:txBody>
          <a:bodyPr wrap="square">
            <a:spAutoFit/>
          </a:bodyPr>
          <a:lstStyle/>
          <a:p>
            <a:r>
              <a:rPr lang="en-US" sz="1500" dirty="0"/>
              <a:t>Hyperparameters:</a:t>
            </a:r>
            <a:br>
              <a:rPr lang="en-US" sz="1500" dirty="0"/>
            </a:br>
            <a:endParaRPr lang="en-US" sz="1500" dirty="0"/>
          </a:p>
          <a:p>
            <a:pPr marL="342900" indent="-342900">
              <a:buFontTx/>
              <a:buChar char="-"/>
            </a:pPr>
            <a:r>
              <a:rPr lang="en-US" sz="1500" dirty="0"/>
              <a:t>7 hidden nodes;</a:t>
            </a:r>
          </a:p>
          <a:p>
            <a:pPr marL="342900" indent="-342900">
              <a:buFontTx/>
              <a:buChar char="-"/>
            </a:pPr>
            <a:r>
              <a:rPr lang="en-US" sz="1500" dirty="0"/>
              <a:t>21 lag terms (in one month there are 21 trading days);</a:t>
            </a:r>
          </a:p>
          <a:p>
            <a:pPr marL="342900" indent="-342900">
              <a:buFontTx/>
              <a:buChar char="-"/>
            </a:pPr>
            <a:r>
              <a:rPr lang="en-US" sz="1500" dirty="0"/>
              <a:t>100 epochs</a:t>
            </a:r>
          </a:p>
          <a:p>
            <a:pPr marL="342900" indent="-342900">
              <a:buFontTx/>
              <a:buChar char="-"/>
            </a:pPr>
            <a:r>
              <a:rPr lang="en-US" sz="1500" dirty="0"/>
              <a:t>128 batch size </a:t>
            </a:r>
          </a:p>
        </p:txBody>
      </p:sp>
      <p:sp>
        <p:nvSpPr>
          <p:cNvPr id="8" name="TextBox 7">
            <a:extLst>
              <a:ext uri="{FF2B5EF4-FFF2-40B4-BE49-F238E27FC236}">
                <a16:creationId xmlns:a16="http://schemas.microsoft.com/office/drawing/2014/main" id="{35CDCC67-5FEC-B7E2-ABBD-A6D79FDEBB2A}"/>
              </a:ext>
            </a:extLst>
          </p:cNvPr>
          <p:cNvSpPr txBox="1"/>
          <p:nvPr/>
        </p:nvSpPr>
        <p:spPr>
          <a:xfrm>
            <a:off x="964054" y="3046642"/>
            <a:ext cx="2764040" cy="3323987"/>
          </a:xfrm>
          <a:prstGeom prst="rect">
            <a:avLst/>
          </a:prstGeom>
          <a:noFill/>
        </p:spPr>
        <p:txBody>
          <a:bodyPr wrap="square" rtlCol="0">
            <a:spAutoFit/>
          </a:bodyPr>
          <a:lstStyle/>
          <a:p>
            <a:r>
              <a:rPr lang="en-US" sz="1500" dirty="0"/>
              <a:t>Inputs for target portfolio:</a:t>
            </a:r>
            <a:br>
              <a:rPr lang="en-US" sz="1500" dirty="0"/>
            </a:br>
            <a:r>
              <a:rPr lang="en-US" sz="1500" dirty="0"/>
              <a:t>1) fractionally differentiated log price </a:t>
            </a:r>
          </a:p>
          <a:p>
            <a:r>
              <a:rPr lang="en-US" sz="1500" dirty="0"/>
              <a:t>2) daily trading volume </a:t>
            </a:r>
          </a:p>
          <a:p>
            <a:endParaRPr lang="en-US" sz="1500" dirty="0"/>
          </a:p>
          <a:p>
            <a:r>
              <a:rPr lang="en-US" sz="1500" dirty="0"/>
              <a:t>Inputs for benchmark portfolio:</a:t>
            </a:r>
          </a:p>
          <a:p>
            <a:r>
              <a:rPr lang="en-US" sz="1500" dirty="0"/>
              <a:t>1) historical returns</a:t>
            </a:r>
          </a:p>
          <a:p>
            <a:r>
              <a:rPr lang="en-US" sz="1500" dirty="0"/>
              <a:t>2) daily trading volume</a:t>
            </a:r>
          </a:p>
          <a:p>
            <a:endParaRPr lang="en-US" sz="1500" dirty="0"/>
          </a:p>
          <a:p>
            <a:r>
              <a:rPr lang="en-US" sz="1500" dirty="0"/>
              <a:t>- (in both cases, the features are standardized for model training)</a:t>
            </a:r>
          </a:p>
          <a:p>
            <a:r>
              <a:rPr lang="en-US" sz="1500" dirty="0">
                <a:latin typeface="+mj-lt"/>
              </a:rPr>
              <a:t> </a:t>
            </a:r>
          </a:p>
          <a:p>
            <a:r>
              <a:rPr lang="en-US" sz="1500" dirty="0">
                <a:latin typeface="+mj-lt"/>
              </a:rPr>
              <a:t> </a:t>
            </a:r>
            <a:endParaRPr lang="en-US" sz="1500" dirty="0">
              <a:latin typeface="-apple-system"/>
            </a:endParaRPr>
          </a:p>
          <a:p>
            <a:endParaRPr lang="en-KR" sz="1500" dirty="0">
              <a:latin typeface="+mj-lt"/>
            </a:endParaRPr>
          </a:p>
        </p:txBody>
      </p:sp>
    </p:spTree>
    <p:extLst>
      <p:ext uri="{BB962C8B-B14F-4D97-AF65-F5344CB8AC3E}">
        <p14:creationId xmlns:p14="http://schemas.microsoft.com/office/powerpoint/2010/main" val="1456628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F19CB48-8C43-B77F-4050-EB2D3BECC131}"/>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6" name="Picture 25">
            <a:extLst>
              <a:ext uri="{FF2B5EF4-FFF2-40B4-BE49-F238E27FC236}">
                <a16:creationId xmlns:a16="http://schemas.microsoft.com/office/drawing/2014/main" id="{987CB0EB-1AA0-DAB9-6101-24E8500B1B88}"/>
              </a:ext>
            </a:extLst>
          </p:cNvPr>
          <p:cNvPicPr>
            <a:picLocks noChangeAspect="1"/>
          </p:cNvPicPr>
          <p:nvPr/>
        </p:nvPicPr>
        <p:blipFill>
          <a:blip r:embed="rId2"/>
          <a:stretch>
            <a:fillRect/>
          </a:stretch>
        </p:blipFill>
        <p:spPr>
          <a:xfrm>
            <a:off x="4490444" y="1751609"/>
            <a:ext cx="7493738" cy="4004986"/>
          </a:xfrm>
          <a:prstGeom prst="rect">
            <a:avLst/>
          </a:prstGeom>
        </p:spPr>
      </p:pic>
      <p:sp>
        <p:nvSpPr>
          <p:cNvPr id="29" name="TextBox 28">
            <a:extLst>
              <a:ext uri="{FF2B5EF4-FFF2-40B4-BE49-F238E27FC236}">
                <a16:creationId xmlns:a16="http://schemas.microsoft.com/office/drawing/2014/main" id="{66CDF64C-8A01-31E2-2AF6-7A60A2504687}"/>
              </a:ext>
            </a:extLst>
          </p:cNvPr>
          <p:cNvSpPr txBox="1"/>
          <p:nvPr/>
        </p:nvSpPr>
        <p:spPr>
          <a:xfrm>
            <a:off x="1022208" y="331964"/>
            <a:ext cx="6936472" cy="769441"/>
          </a:xfrm>
          <a:prstGeom prst="rect">
            <a:avLst/>
          </a:prstGeom>
          <a:noFill/>
        </p:spPr>
        <p:txBody>
          <a:bodyPr wrap="square">
            <a:spAutoFit/>
          </a:bodyPr>
          <a:lstStyle/>
          <a:p>
            <a:r>
              <a:rPr lang="en-US" altLang="ko-KR" sz="4400" b="1" spc="600" dirty="0">
                <a:solidFill>
                  <a:schemeClr val="accent1">
                    <a:lumMod val="50000"/>
                  </a:schemeClr>
                </a:solidFill>
                <a:latin typeface="+mj-lt"/>
                <a:ea typeface="넥슨Lv1고딕 Bold" panose="00000800000000000000" pitchFamily="2" charset="-127"/>
              </a:rPr>
              <a:t>Portfolio Construction</a:t>
            </a:r>
            <a:endParaRPr lang="ko-KR" altLang="en-US" sz="4400" b="1" spc="600" dirty="0">
              <a:solidFill>
                <a:schemeClr val="accent1">
                  <a:lumMod val="50000"/>
                </a:schemeClr>
              </a:solidFill>
              <a:latin typeface="+mj-lt"/>
              <a:ea typeface="넥슨Lv1고딕 Bold" panose="00000800000000000000" pitchFamily="2" charset="-127"/>
            </a:endParaRPr>
          </a:p>
        </p:txBody>
      </p:sp>
      <p:sp>
        <p:nvSpPr>
          <p:cNvPr id="30" name="TextBox 29">
            <a:extLst>
              <a:ext uri="{FF2B5EF4-FFF2-40B4-BE49-F238E27FC236}">
                <a16:creationId xmlns:a16="http://schemas.microsoft.com/office/drawing/2014/main" id="{38EC277D-9553-25BC-0D55-DD9984367AF0}"/>
              </a:ext>
            </a:extLst>
          </p:cNvPr>
          <p:cNvSpPr txBox="1"/>
          <p:nvPr/>
        </p:nvSpPr>
        <p:spPr>
          <a:xfrm>
            <a:off x="1172245" y="1751609"/>
            <a:ext cx="3053391" cy="3970318"/>
          </a:xfrm>
          <a:prstGeom prst="rect">
            <a:avLst/>
          </a:prstGeom>
          <a:noFill/>
        </p:spPr>
        <p:txBody>
          <a:bodyPr wrap="square" rtlCol="0">
            <a:spAutoFit/>
          </a:bodyPr>
          <a:lstStyle/>
          <a:p>
            <a:pPr marL="285750" indent="-285750">
              <a:buFont typeface="Arial" panose="020B0604020202020204" pitchFamily="34" charset="0"/>
              <a:buChar char="•"/>
            </a:pPr>
            <a:r>
              <a:rPr lang="en-US" dirty="0"/>
              <a:t>Build an LSTM model on 10- year training data for each stock</a:t>
            </a:r>
          </a:p>
          <a:p>
            <a:pPr marL="285750" indent="-285750">
              <a:buFont typeface="Arial" panose="020B0604020202020204" pitchFamily="34" charset="0"/>
              <a:buChar char="•"/>
            </a:pPr>
            <a:r>
              <a:rPr lang="en-US" dirty="0"/>
              <a:t>Get its daily stock return prediction for the following year</a:t>
            </a:r>
          </a:p>
          <a:p>
            <a:pPr marL="285750" indent="-285750">
              <a:buFont typeface="Arial" panose="020B0604020202020204" pitchFamily="34" charset="0"/>
              <a:buChar char="•"/>
            </a:pPr>
            <a:r>
              <a:rPr lang="en-US" dirty="0"/>
              <a:t>Each day rank the chosen stocks based on the estimated stock returns</a:t>
            </a:r>
          </a:p>
          <a:p>
            <a:pPr marL="285750" indent="-285750">
              <a:buFont typeface="Arial" panose="020B0604020202020204" pitchFamily="34" charset="0"/>
              <a:buChar char="•"/>
            </a:pPr>
            <a:r>
              <a:rPr lang="en-US" dirty="0"/>
              <a:t>Buy top 5 stocks (‘High’)) that had highest predicted returns and short 5 stocks (‘Low’) that had lowest predicted returns</a:t>
            </a:r>
          </a:p>
        </p:txBody>
      </p:sp>
    </p:spTree>
    <p:extLst>
      <p:ext uri="{BB962C8B-B14F-4D97-AF65-F5344CB8AC3E}">
        <p14:creationId xmlns:p14="http://schemas.microsoft.com/office/powerpoint/2010/main" val="266863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F19CB48-8C43-B77F-4050-EB2D3BECC131}"/>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38EC277D-9553-25BC-0D55-DD9984367AF0}"/>
              </a:ext>
            </a:extLst>
          </p:cNvPr>
          <p:cNvSpPr txBox="1"/>
          <p:nvPr/>
        </p:nvSpPr>
        <p:spPr>
          <a:xfrm>
            <a:off x="1172245" y="1751609"/>
            <a:ext cx="3053391" cy="3970318"/>
          </a:xfrm>
          <a:prstGeom prst="rect">
            <a:avLst/>
          </a:prstGeom>
          <a:noFill/>
        </p:spPr>
        <p:txBody>
          <a:bodyPr wrap="square" rtlCol="0">
            <a:spAutoFit/>
          </a:bodyPr>
          <a:lstStyle/>
          <a:p>
            <a:pPr marL="285750" indent="-285750">
              <a:buFont typeface="Arial" panose="020B0604020202020204" pitchFamily="34" charset="0"/>
              <a:buChar char="•"/>
            </a:pPr>
            <a:r>
              <a:rPr lang="en-US" dirty="0"/>
              <a:t>Build an LSTM model on 10- year training data for each stock</a:t>
            </a:r>
          </a:p>
          <a:p>
            <a:pPr marL="285750" indent="-285750">
              <a:buFont typeface="Arial" panose="020B0604020202020204" pitchFamily="34" charset="0"/>
              <a:buChar char="•"/>
            </a:pPr>
            <a:r>
              <a:rPr lang="en-US" dirty="0"/>
              <a:t>Get its daily stock return prediction for the following year</a:t>
            </a:r>
          </a:p>
          <a:p>
            <a:pPr marL="285750" indent="-285750">
              <a:buFont typeface="Arial" panose="020B0604020202020204" pitchFamily="34" charset="0"/>
              <a:buChar char="•"/>
            </a:pPr>
            <a:r>
              <a:rPr lang="en-US" dirty="0"/>
              <a:t>Each day rank the chosen stocks based on the estimated stock returns</a:t>
            </a:r>
          </a:p>
          <a:p>
            <a:pPr marL="285750" indent="-285750">
              <a:buFont typeface="Arial" panose="020B0604020202020204" pitchFamily="34" charset="0"/>
              <a:buChar char="•"/>
            </a:pPr>
            <a:r>
              <a:rPr lang="en-US" dirty="0"/>
              <a:t>Buy top 5 stocks (‘High’)) that had highest predicted returns and short 5 stocks (‘Low’) that had lowest predicted returns</a:t>
            </a:r>
          </a:p>
        </p:txBody>
      </p:sp>
      <p:pic>
        <p:nvPicPr>
          <p:cNvPr id="3" name="Picture 2">
            <a:extLst>
              <a:ext uri="{FF2B5EF4-FFF2-40B4-BE49-F238E27FC236}">
                <a16:creationId xmlns:a16="http://schemas.microsoft.com/office/drawing/2014/main" id="{CD81BE2E-8CA8-ED00-C987-F3D66D28A812}"/>
              </a:ext>
            </a:extLst>
          </p:cNvPr>
          <p:cNvPicPr>
            <a:picLocks noChangeAspect="1"/>
          </p:cNvPicPr>
          <p:nvPr/>
        </p:nvPicPr>
        <p:blipFill>
          <a:blip r:embed="rId2"/>
          <a:stretch>
            <a:fillRect/>
          </a:stretch>
        </p:blipFill>
        <p:spPr>
          <a:xfrm>
            <a:off x="4225636" y="1904009"/>
            <a:ext cx="7691580" cy="3665518"/>
          </a:xfrm>
          <a:prstGeom prst="rect">
            <a:avLst/>
          </a:prstGeom>
        </p:spPr>
      </p:pic>
      <p:sp>
        <p:nvSpPr>
          <p:cNvPr id="4" name="TextBox 3">
            <a:extLst>
              <a:ext uri="{FF2B5EF4-FFF2-40B4-BE49-F238E27FC236}">
                <a16:creationId xmlns:a16="http://schemas.microsoft.com/office/drawing/2014/main" id="{0424AE9D-26DE-3150-401D-533F5F6C6362}"/>
              </a:ext>
            </a:extLst>
          </p:cNvPr>
          <p:cNvSpPr txBox="1"/>
          <p:nvPr/>
        </p:nvSpPr>
        <p:spPr>
          <a:xfrm>
            <a:off x="1022208" y="331964"/>
            <a:ext cx="6936472" cy="769441"/>
          </a:xfrm>
          <a:prstGeom prst="rect">
            <a:avLst/>
          </a:prstGeom>
          <a:noFill/>
        </p:spPr>
        <p:txBody>
          <a:bodyPr wrap="square">
            <a:spAutoFit/>
          </a:bodyPr>
          <a:lstStyle/>
          <a:p>
            <a:r>
              <a:rPr lang="en-US" altLang="ko-KR" sz="4400" b="1" spc="600" dirty="0">
                <a:solidFill>
                  <a:schemeClr val="accent1">
                    <a:lumMod val="50000"/>
                  </a:schemeClr>
                </a:solidFill>
                <a:latin typeface="+mj-lt"/>
                <a:ea typeface="넥슨Lv1고딕 Bold" panose="00000800000000000000" pitchFamily="2" charset="-127"/>
              </a:rPr>
              <a:t>Portfolio Construction</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1157145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2193893-B8C6-4FF9-AF11-2D4B54B80950}"/>
              </a:ext>
            </a:extLst>
          </p:cNvPr>
          <p:cNvSpPr txBox="1"/>
          <p:nvPr/>
        </p:nvSpPr>
        <p:spPr>
          <a:xfrm>
            <a:off x="906908" y="2431441"/>
            <a:ext cx="4215508" cy="646331"/>
          </a:xfrm>
          <a:prstGeom prst="rect">
            <a:avLst/>
          </a:prstGeom>
          <a:noFill/>
        </p:spPr>
        <p:txBody>
          <a:bodyPr wrap="square" rtlCol="0">
            <a:spAutoFit/>
          </a:bodyPr>
          <a:lstStyle/>
          <a:p>
            <a:endParaRPr lang="en-US" altLang="ko-KR" sz="2400" dirty="0">
              <a:solidFill>
                <a:srgbClr val="334971"/>
              </a:solidFill>
              <a:latin typeface="넥슨Lv1고딕 Bold" panose="00000800000000000000" pitchFamily="2" charset="-127"/>
              <a:ea typeface="넥슨Lv1고딕 Bold" panose="00000800000000000000" pitchFamily="2" charset="-127"/>
            </a:endParaRPr>
          </a:p>
          <a:p>
            <a:pPr marL="228600" indent="-228600">
              <a:buAutoNum type="arabicPeriod"/>
            </a:pPr>
            <a:endParaRPr lang="ko-KR" altLang="en-US" sz="1200" dirty="0">
              <a:solidFill>
                <a:srgbClr val="334971"/>
              </a:solidFill>
              <a:latin typeface="넥슨Lv1고딕 Bold" panose="00000800000000000000" pitchFamily="2" charset="-127"/>
              <a:ea typeface="넥슨Lv1고딕 Bold" panose="00000800000000000000" pitchFamily="2" charset="-127"/>
            </a:endParaRPr>
          </a:p>
        </p:txBody>
      </p:sp>
      <p:sp>
        <p:nvSpPr>
          <p:cNvPr id="2" name="직사각형 1">
            <a:extLst>
              <a:ext uri="{FF2B5EF4-FFF2-40B4-BE49-F238E27FC236}">
                <a16:creationId xmlns:a16="http://schemas.microsoft.com/office/drawing/2014/main" id="{3F19CB48-8C43-B77F-4050-EB2D3BECC131}"/>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3D274850-9998-88FB-D658-2C3201FD3B73}"/>
              </a:ext>
            </a:extLst>
          </p:cNvPr>
          <p:cNvSpPr txBox="1"/>
          <p:nvPr/>
        </p:nvSpPr>
        <p:spPr>
          <a:xfrm>
            <a:off x="2404134" y="5114786"/>
            <a:ext cx="2486522" cy="646331"/>
          </a:xfrm>
          <a:prstGeom prst="rect">
            <a:avLst/>
          </a:prstGeom>
          <a:noFill/>
        </p:spPr>
        <p:txBody>
          <a:bodyPr wrap="square" rtlCol="0">
            <a:spAutoFit/>
          </a:bodyPr>
          <a:lstStyle/>
          <a:p>
            <a:r>
              <a:rPr lang="en-US" dirty="0"/>
              <a:t>Orange: Long Portfolio</a:t>
            </a:r>
          </a:p>
          <a:p>
            <a:r>
              <a:rPr lang="en-US" dirty="0"/>
              <a:t>Blue: Short Portfolio</a:t>
            </a:r>
          </a:p>
        </p:txBody>
      </p:sp>
      <p:sp>
        <p:nvSpPr>
          <p:cNvPr id="9" name="TextBox 8">
            <a:extLst>
              <a:ext uri="{FF2B5EF4-FFF2-40B4-BE49-F238E27FC236}">
                <a16:creationId xmlns:a16="http://schemas.microsoft.com/office/drawing/2014/main" id="{84572FB6-E884-4028-1D70-BC0CDD0F7352}"/>
              </a:ext>
            </a:extLst>
          </p:cNvPr>
          <p:cNvSpPr txBox="1"/>
          <p:nvPr/>
        </p:nvSpPr>
        <p:spPr>
          <a:xfrm>
            <a:off x="8159494" y="5253285"/>
            <a:ext cx="2486522" cy="369332"/>
          </a:xfrm>
          <a:prstGeom prst="rect">
            <a:avLst/>
          </a:prstGeom>
          <a:noFill/>
        </p:spPr>
        <p:txBody>
          <a:bodyPr wrap="square" rtlCol="0">
            <a:spAutoFit/>
          </a:bodyPr>
          <a:lstStyle/>
          <a:p>
            <a:r>
              <a:rPr lang="en-US" dirty="0"/>
              <a:t>Long - Short Portfolio</a:t>
            </a:r>
          </a:p>
        </p:txBody>
      </p:sp>
      <p:pic>
        <p:nvPicPr>
          <p:cNvPr id="4" name="Picture 3">
            <a:extLst>
              <a:ext uri="{FF2B5EF4-FFF2-40B4-BE49-F238E27FC236}">
                <a16:creationId xmlns:a16="http://schemas.microsoft.com/office/drawing/2014/main" id="{E40A7A96-1831-2714-13F2-6E03499BA3BE}"/>
              </a:ext>
            </a:extLst>
          </p:cNvPr>
          <p:cNvPicPr>
            <a:picLocks noChangeAspect="1"/>
          </p:cNvPicPr>
          <p:nvPr/>
        </p:nvPicPr>
        <p:blipFill>
          <a:blip r:embed="rId2"/>
          <a:stretch>
            <a:fillRect/>
          </a:stretch>
        </p:blipFill>
        <p:spPr>
          <a:xfrm>
            <a:off x="1369745" y="1597317"/>
            <a:ext cx="4726255" cy="3405562"/>
          </a:xfrm>
          <a:prstGeom prst="rect">
            <a:avLst/>
          </a:prstGeom>
        </p:spPr>
      </p:pic>
      <p:pic>
        <p:nvPicPr>
          <p:cNvPr id="6" name="Picture 5">
            <a:extLst>
              <a:ext uri="{FF2B5EF4-FFF2-40B4-BE49-F238E27FC236}">
                <a16:creationId xmlns:a16="http://schemas.microsoft.com/office/drawing/2014/main" id="{F5E4CC81-602D-F58F-00A4-5CC0DD69EBA3}"/>
              </a:ext>
            </a:extLst>
          </p:cNvPr>
          <p:cNvPicPr>
            <a:picLocks noChangeAspect="1"/>
          </p:cNvPicPr>
          <p:nvPr/>
        </p:nvPicPr>
        <p:blipFill>
          <a:blip r:embed="rId3"/>
          <a:stretch>
            <a:fillRect/>
          </a:stretch>
        </p:blipFill>
        <p:spPr>
          <a:xfrm>
            <a:off x="6774865" y="1596346"/>
            <a:ext cx="4726255" cy="3406533"/>
          </a:xfrm>
          <a:prstGeom prst="rect">
            <a:avLst/>
          </a:prstGeom>
        </p:spPr>
      </p:pic>
      <p:sp>
        <p:nvSpPr>
          <p:cNvPr id="15" name="TextBox 14">
            <a:extLst>
              <a:ext uri="{FF2B5EF4-FFF2-40B4-BE49-F238E27FC236}">
                <a16:creationId xmlns:a16="http://schemas.microsoft.com/office/drawing/2014/main" id="{626D197E-D2AB-B550-6B1D-61D05A1D178B}"/>
              </a:ext>
            </a:extLst>
          </p:cNvPr>
          <p:cNvSpPr txBox="1"/>
          <p:nvPr/>
        </p:nvSpPr>
        <p:spPr>
          <a:xfrm>
            <a:off x="1681058" y="487371"/>
            <a:ext cx="8829883" cy="769441"/>
          </a:xfrm>
          <a:prstGeom prst="rect">
            <a:avLst/>
          </a:prstGeom>
          <a:noFill/>
        </p:spPr>
        <p:txBody>
          <a:bodyPr wrap="square">
            <a:spAutoFit/>
          </a:bodyPr>
          <a:lstStyle/>
          <a:p>
            <a:r>
              <a:rPr lang="en-US" altLang="ko-KR" sz="4400" b="1" spc="600" dirty="0">
                <a:solidFill>
                  <a:schemeClr val="accent1">
                    <a:lumMod val="50000"/>
                  </a:schemeClr>
                </a:solidFill>
                <a:latin typeface="+mj-lt"/>
                <a:ea typeface="넥슨Lv1고딕 Bold" panose="00000800000000000000" pitchFamily="2" charset="-127"/>
              </a:rPr>
              <a:t>Target Portfolio Results</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2748523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1">
            <a:extLst>
              <a:ext uri="{FF2B5EF4-FFF2-40B4-BE49-F238E27FC236}">
                <a16:creationId xmlns:a16="http://schemas.microsoft.com/office/drawing/2014/main" id="{317143A4-7DAE-9BB7-F78D-9F1CB81B9B0E}"/>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Picture 7">
            <a:extLst>
              <a:ext uri="{FF2B5EF4-FFF2-40B4-BE49-F238E27FC236}">
                <a16:creationId xmlns:a16="http://schemas.microsoft.com/office/drawing/2014/main" id="{CADB8A4F-F8EE-6321-B73B-33DBE6032AB8}"/>
              </a:ext>
            </a:extLst>
          </p:cNvPr>
          <p:cNvPicPr>
            <a:picLocks noChangeAspect="1"/>
          </p:cNvPicPr>
          <p:nvPr/>
        </p:nvPicPr>
        <p:blipFill>
          <a:blip r:embed="rId2"/>
          <a:stretch>
            <a:fillRect/>
          </a:stretch>
        </p:blipFill>
        <p:spPr>
          <a:xfrm>
            <a:off x="1374676" y="1514208"/>
            <a:ext cx="4764198" cy="3279465"/>
          </a:xfrm>
          <a:prstGeom prst="rect">
            <a:avLst/>
          </a:prstGeom>
        </p:spPr>
      </p:pic>
      <p:pic>
        <p:nvPicPr>
          <p:cNvPr id="10" name="Picture 9">
            <a:extLst>
              <a:ext uri="{FF2B5EF4-FFF2-40B4-BE49-F238E27FC236}">
                <a16:creationId xmlns:a16="http://schemas.microsoft.com/office/drawing/2014/main" id="{F86FD11E-C4E9-96CB-821D-46D3E9992E62}"/>
              </a:ext>
            </a:extLst>
          </p:cNvPr>
          <p:cNvPicPr>
            <a:picLocks noChangeAspect="1"/>
          </p:cNvPicPr>
          <p:nvPr/>
        </p:nvPicPr>
        <p:blipFill>
          <a:blip r:embed="rId3"/>
          <a:stretch>
            <a:fillRect/>
          </a:stretch>
        </p:blipFill>
        <p:spPr>
          <a:xfrm>
            <a:off x="6822671" y="1514208"/>
            <a:ext cx="4491442" cy="3279465"/>
          </a:xfrm>
          <a:prstGeom prst="rect">
            <a:avLst/>
          </a:prstGeom>
        </p:spPr>
      </p:pic>
      <p:sp>
        <p:nvSpPr>
          <p:cNvPr id="11" name="TextBox 10">
            <a:extLst>
              <a:ext uri="{FF2B5EF4-FFF2-40B4-BE49-F238E27FC236}">
                <a16:creationId xmlns:a16="http://schemas.microsoft.com/office/drawing/2014/main" id="{0FAC312C-27FA-6E62-E0A4-07CD1AD49054}"/>
              </a:ext>
            </a:extLst>
          </p:cNvPr>
          <p:cNvSpPr txBox="1"/>
          <p:nvPr/>
        </p:nvSpPr>
        <p:spPr>
          <a:xfrm>
            <a:off x="2404134" y="5114786"/>
            <a:ext cx="2486522" cy="646331"/>
          </a:xfrm>
          <a:prstGeom prst="rect">
            <a:avLst/>
          </a:prstGeom>
          <a:noFill/>
        </p:spPr>
        <p:txBody>
          <a:bodyPr wrap="square" rtlCol="0">
            <a:spAutoFit/>
          </a:bodyPr>
          <a:lstStyle/>
          <a:p>
            <a:r>
              <a:rPr lang="en-US" dirty="0"/>
              <a:t>Orange: Long Portfolio</a:t>
            </a:r>
          </a:p>
          <a:p>
            <a:r>
              <a:rPr lang="en-US" dirty="0"/>
              <a:t>Blue: Short Portfolio</a:t>
            </a:r>
          </a:p>
        </p:txBody>
      </p:sp>
      <p:sp>
        <p:nvSpPr>
          <p:cNvPr id="12" name="TextBox 11">
            <a:extLst>
              <a:ext uri="{FF2B5EF4-FFF2-40B4-BE49-F238E27FC236}">
                <a16:creationId xmlns:a16="http://schemas.microsoft.com/office/drawing/2014/main" id="{836E9EC8-33C8-BBF6-563F-A8FC322A66BE}"/>
              </a:ext>
            </a:extLst>
          </p:cNvPr>
          <p:cNvSpPr txBox="1"/>
          <p:nvPr/>
        </p:nvSpPr>
        <p:spPr>
          <a:xfrm>
            <a:off x="8159494" y="5253285"/>
            <a:ext cx="2486522" cy="369332"/>
          </a:xfrm>
          <a:prstGeom prst="rect">
            <a:avLst/>
          </a:prstGeom>
          <a:noFill/>
        </p:spPr>
        <p:txBody>
          <a:bodyPr wrap="square" rtlCol="0">
            <a:spAutoFit/>
          </a:bodyPr>
          <a:lstStyle/>
          <a:p>
            <a:r>
              <a:rPr lang="en-US" dirty="0"/>
              <a:t>Long - Short Portfolio</a:t>
            </a:r>
          </a:p>
        </p:txBody>
      </p:sp>
      <p:sp>
        <p:nvSpPr>
          <p:cNvPr id="14" name="TextBox 13">
            <a:extLst>
              <a:ext uri="{FF2B5EF4-FFF2-40B4-BE49-F238E27FC236}">
                <a16:creationId xmlns:a16="http://schemas.microsoft.com/office/drawing/2014/main" id="{8A446213-1F74-17D3-D194-39594B53B3C7}"/>
              </a:ext>
            </a:extLst>
          </p:cNvPr>
          <p:cNvSpPr txBox="1"/>
          <p:nvPr/>
        </p:nvSpPr>
        <p:spPr>
          <a:xfrm>
            <a:off x="1681058" y="487371"/>
            <a:ext cx="8829883" cy="769441"/>
          </a:xfrm>
          <a:prstGeom prst="rect">
            <a:avLst/>
          </a:prstGeom>
          <a:noFill/>
        </p:spPr>
        <p:txBody>
          <a:bodyPr wrap="square">
            <a:spAutoFit/>
          </a:bodyPr>
          <a:lstStyle/>
          <a:p>
            <a:r>
              <a:rPr lang="en-US" altLang="ko-KR" sz="4400" b="1" spc="600" dirty="0">
                <a:solidFill>
                  <a:schemeClr val="accent1">
                    <a:lumMod val="50000"/>
                  </a:schemeClr>
                </a:solidFill>
                <a:latin typeface="+mj-lt"/>
                <a:ea typeface="넥슨Lv1고딕 Bold" panose="00000800000000000000" pitchFamily="2" charset="-127"/>
              </a:rPr>
              <a:t>Benchmark Portfolio Results</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2378564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F071F05-18DD-43B3-8318-408A311EC8C9}"/>
              </a:ext>
            </a:extLst>
          </p:cNvPr>
          <p:cNvSpPr/>
          <p:nvPr/>
        </p:nvSpPr>
        <p:spPr>
          <a:xfrm>
            <a:off x="0" y="0"/>
            <a:ext cx="690880" cy="6858000"/>
          </a:xfrm>
          <a:prstGeom prst="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699DAB02-A6BC-4B00-A168-CCC96760887F}"/>
              </a:ext>
            </a:extLst>
          </p:cNvPr>
          <p:cNvSpPr txBox="1"/>
          <p:nvPr/>
        </p:nvSpPr>
        <p:spPr>
          <a:xfrm>
            <a:off x="1530505" y="1722236"/>
            <a:ext cx="9598416" cy="5016758"/>
          </a:xfrm>
          <a:prstGeom prst="rect">
            <a:avLst/>
          </a:prstGeom>
          <a:noFill/>
        </p:spPr>
        <p:txBody>
          <a:bodyPr wrap="square" rtlCol="0">
            <a:spAutoFit/>
          </a:bodyPr>
          <a:lstStyle/>
          <a:p>
            <a:pPr marL="285750" indent="-285750">
              <a:buFont typeface="Arial" panose="020B0604020202020204" pitchFamily="34" charset="0"/>
              <a:buChar char="•"/>
            </a:pPr>
            <a:r>
              <a:rPr lang="en-US" altLang="ko-KR" sz="2000" dirty="0">
                <a:ea typeface="Malgun Gothic" panose="020B0503020000020004" pitchFamily="34" charset="-127"/>
                <a:cs typeface="Times New Roman" panose="02020603050405020304" pitchFamily="18" charset="0"/>
              </a:rPr>
              <a:t>Throughout our project, we investigated the use of fractionally differentiated log price data in constructing a long short portfolio.</a:t>
            </a:r>
          </a:p>
          <a:p>
            <a:pPr marL="285750" indent="-285750">
              <a:buFont typeface="Arial" panose="020B0604020202020204" pitchFamily="34" charset="0"/>
              <a:buChar char="•"/>
            </a:pPr>
            <a:endParaRPr lang="en-US" altLang="ko-KR" sz="2000" dirty="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r>
              <a:rPr lang="en-US" altLang="ko-KR" sz="2000" dirty="0">
                <a:ea typeface="Malgun Gothic" panose="020B0503020000020004" pitchFamily="34" charset="-127"/>
                <a:cs typeface="Times New Roman" panose="02020603050405020304" pitchFamily="18" charset="0"/>
              </a:rPr>
              <a:t>However, the portfolio results showed that the benchmark portfolio performed considerably better than the target portfolio</a:t>
            </a:r>
          </a:p>
          <a:p>
            <a:endParaRPr lang="en-US" altLang="ko-KR" sz="2000" dirty="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r>
              <a:rPr lang="en-US" altLang="ko-KR" sz="2000" dirty="0">
                <a:ea typeface="Malgun Gothic" panose="020B0503020000020004" pitchFamily="34" charset="-127"/>
                <a:cs typeface="Times New Roman" panose="02020603050405020304" pitchFamily="18" charset="0"/>
              </a:rPr>
              <a:t>This might be due to a variety of reasons:</a:t>
            </a:r>
          </a:p>
          <a:p>
            <a:pPr lvl="1"/>
            <a:r>
              <a:rPr lang="en-US" altLang="ko-KR" sz="2000" dirty="0">
                <a:ea typeface="Malgun Gothic" panose="020B0503020000020004" pitchFamily="34" charset="-127"/>
                <a:cs typeface="Times New Roman" panose="02020603050405020304" pitchFamily="18" charset="0"/>
              </a:rPr>
              <a:t>-    Unluckily defined or too small stock universe</a:t>
            </a:r>
          </a:p>
          <a:p>
            <a:pPr marL="800100" lvl="1" indent="-342900">
              <a:buFontTx/>
              <a:buChar char="-"/>
            </a:pPr>
            <a:r>
              <a:rPr lang="en-US" altLang="ko-KR" sz="2000" dirty="0">
                <a:ea typeface="Malgun Gothic" panose="020B0503020000020004" pitchFamily="34" charset="-127"/>
                <a:cs typeface="Times New Roman" panose="02020603050405020304" pitchFamily="18" charset="0"/>
              </a:rPr>
              <a:t>Misspecification and overtraining of the LSTM model for target portfolio</a:t>
            </a:r>
          </a:p>
          <a:p>
            <a:pPr marL="800100" lvl="1" indent="-342900">
              <a:buFontTx/>
              <a:buChar char="-"/>
            </a:pPr>
            <a:r>
              <a:rPr lang="en-US" altLang="ko-KR" sz="2000" dirty="0">
                <a:ea typeface="Malgun Gothic" panose="020B0503020000020004" pitchFamily="34" charset="-127"/>
                <a:cs typeface="Times New Roman" panose="02020603050405020304" pitchFamily="18" charset="0"/>
              </a:rPr>
              <a:t>Fractional differencing might not actually be effective to predict stock returns (past data, regardless of high preserved historic pattern, does not predict future behavior)</a:t>
            </a:r>
          </a:p>
          <a:p>
            <a:endParaRPr lang="en-US" altLang="ko-KR" sz="2000" dirty="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r>
              <a:rPr lang="en-US" altLang="ko-KR" sz="2000" b="1" dirty="0">
                <a:ea typeface="Malgun Gothic" panose="020B0503020000020004" pitchFamily="34" charset="-127"/>
                <a:cs typeface="Times New Roman" panose="02020603050405020304" pitchFamily="18" charset="0"/>
              </a:rPr>
              <a:t>More extensive analysis might be required to fully know the effect of fractional differencing on stock return prediction</a:t>
            </a:r>
          </a:p>
          <a:p>
            <a:pPr lvl="1"/>
            <a:endParaRPr lang="en-US" altLang="ko-KR" sz="2000" dirty="0">
              <a:ea typeface="Malgun Gothic" panose="020B0503020000020004" pitchFamily="34" charset="-127"/>
              <a:cs typeface="Times New Roman" panose="02020603050405020304" pitchFamily="18" charset="0"/>
            </a:endParaRPr>
          </a:p>
        </p:txBody>
      </p:sp>
      <p:sp>
        <p:nvSpPr>
          <p:cNvPr id="11" name="TextBox 10">
            <a:extLst>
              <a:ext uri="{FF2B5EF4-FFF2-40B4-BE49-F238E27FC236}">
                <a16:creationId xmlns:a16="http://schemas.microsoft.com/office/drawing/2014/main" id="{8C7734F3-BC05-4467-BD3A-CA5672615C7C}"/>
              </a:ext>
            </a:extLst>
          </p:cNvPr>
          <p:cNvSpPr txBox="1"/>
          <p:nvPr/>
        </p:nvSpPr>
        <p:spPr>
          <a:xfrm>
            <a:off x="1306383" y="544892"/>
            <a:ext cx="10046661"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Limitations and Future Research</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3164506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2D83C2-6BEC-D320-C6AC-16BBB3E8A66D}"/>
              </a:ext>
            </a:extLst>
          </p:cNvPr>
          <p:cNvSpPr>
            <a:spLocks noGrp="1"/>
          </p:cNvSpPr>
          <p:nvPr>
            <p:ph idx="1"/>
          </p:nvPr>
        </p:nvSpPr>
        <p:spPr/>
        <p:txBody>
          <a:bodyPr>
            <a:normAutofit/>
          </a:bodyPr>
          <a:lstStyle/>
          <a:p>
            <a:pPr marL="342900" indent="-342900">
              <a:buFont typeface="+mj-lt"/>
              <a:buAutoNum type="arabicPeriod"/>
            </a:pPr>
            <a:r>
              <a:rPr lang="en-KR" sz="1600" dirty="0"/>
              <a:t>1. Gu S., Kelly B. &amp; Xiu D. (2018, September). Empirical Asset Pricing via Machine learning </a:t>
            </a:r>
            <a:r>
              <a:rPr lang="en-US" sz="1600" u="sng" dirty="0">
                <a:solidFill>
                  <a:srgbClr val="0563C1"/>
                </a:solidFill>
                <a:effectLst/>
                <a:ea typeface="Malgun Gothic" panose="020B0503020000020004" pitchFamily="34" charset="-127"/>
                <a:cs typeface="Times New Roman" panose="02020603050405020304" pitchFamily="18" charset="0"/>
                <a:hlinkClick r:id="rId2"/>
              </a:rPr>
              <a:t>https://academic.oup.com/rfs/article-pdf/33/5/2223/33209812/hhaa009.pdf</a:t>
            </a:r>
            <a:endParaRPr lang="en-US" sz="1600" u="sng" dirty="0">
              <a:solidFill>
                <a:srgbClr val="0563C1"/>
              </a:solidFill>
              <a:effectLst/>
              <a:ea typeface="Malgun Gothic" panose="020B0503020000020004" pitchFamily="34" charset="-127"/>
              <a:cs typeface="Times New Roman" panose="02020603050405020304" pitchFamily="18" charset="0"/>
            </a:endParaRPr>
          </a:p>
          <a:p>
            <a:pPr marL="342900" indent="-342900">
              <a:buFont typeface="+mj-lt"/>
              <a:buAutoNum type="arabicPeriod"/>
            </a:pPr>
            <a:r>
              <a:rPr lang="en-KR" sz="1600" dirty="0"/>
              <a:t>Shah I. (2020, February). Historical Stock Price Data in Python </a:t>
            </a:r>
            <a:r>
              <a:rPr lang="en-US" sz="1600" dirty="0">
                <a:hlinkClick r:id="rId3"/>
              </a:rPr>
              <a:t>https://towardsdatascience.com/historical-stock-price-data-in-python-a0b6dc826836</a:t>
            </a:r>
            <a:r>
              <a:rPr lang="en-US" sz="1600" dirty="0"/>
              <a:t> </a:t>
            </a:r>
            <a:endParaRPr lang="en-US" sz="1600" u="sng" dirty="0">
              <a:solidFill>
                <a:srgbClr val="0563C1"/>
              </a:solidFill>
              <a:effectLst/>
              <a:ea typeface="Malgun Gothic" panose="020B0503020000020004" pitchFamily="34" charset="-127"/>
              <a:cs typeface="Times New Roman" panose="02020603050405020304" pitchFamily="18" charset="0"/>
            </a:endParaRPr>
          </a:p>
          <a:p>
            <a:pPr marL="342900" indent="-342900">
              <a:buFont typeface="+mj-lt"/>
              <a:buAutoNum type="arabicPeriod"/>
            </a:pPr>
            <a:r>
              <a:rPr lang="en-KR" sz="1600" dirty="0"/>
              <a:t>Gui K. (2020, August). Feature Engineering: Fractionally differentiated features </a:t>
            </a:r>
            <a:r>
              <a:rPr lang="en-US" sz="1600" dirty="0">
                <a:hlinkClick r:id="rId4"/>
              </a:rPr>
              <a:t>https://medium.com/swlh/fractionally-differentiated-features-9c1947ed2b55</a:t>
            </a:r>
            <a:r>
              <a:rPr lang="en-US" sz="1600" dirty="0"/>
              <a:t> </a:t>
            </a:r>
          </a:p>
          <a:p>
            <a:pPr marL="342900" indent="-342900">
              <a:buFont typeface="+mj-lt"/>
              <a:buAutoNum type="arabicPeriod"/>
            </a:pPr>
            <a:r>
              <a:rPr lang="en-KR" sz="1600" dirty="0"/>
              <a:t>Example of Fractional differencing applied to S&amp;P 500 index </a:t>
            </a:r>
            <a:r>
              <a:rPr lang="en-US" sz="1600" dirty="0">
                <a:hlinkClick r:id="rId5"/>
              </a:rPr>
              <a:t>https://colab.research.google.com/github/fracdiff/fracdiff/blob/main/examples/example_prado.ipynb#scrollTo=P9dnVAHftZtn</a:t>
            </a:r>
            <a:r>
              <a:rPr lang="en-US" sz="1600" dirty="0"/>
              <a:t> </a:t>
            </a:r>
          </a:p>
          <a:p>
            <a:pPr marL="342900" indent="-342900">
              <a:buFont typeface="+mj-lt"/>
              <a:buAutoNum type="arabicPeriod"/>
            </a:pPr>
            <a:r>
              <a:rPr lang="en-KR" sz="1600" dirty="0">
                <a:ea typeface="Malgun Gothic" panose="020B0503020000020004" pitchFamily="34" charset="-127"/>
                <a:cs typeface="Times New Roman" panose="02020603050405020304" pitchFamily="18" charset="0"/>
              </a:rPr>
              <a:t>Investment Portfolio Optimization using LSTM </a:t>
            </a:r>
            <a:r>
              <a:rPr lang="en-US" sz="1600" dirty="0">
                <a:ea typeface="Malgun Gothic" panose="020B0503020000020004" pitchFamily="34" charset="-127"/>
                <a:cs typeface="Times New Roman" panose="02020603050405020304" pitchFamily="18" charset="0"/>
                <a:hlinkClick r:id="rId6"/>
              </a:rPr>
              <a:t>https://github.com/georgemuriithi/investment-portfolio-optim/tree/main</a:t>
            </a:r>
            <a:r>
              <a:rPr lang="en-US" sz="1600" dirty="0">
                <a:ea typeface="Malgun Gothic" panose="020B0503020000020004" pitchFamily="34" charset="-127"/>
                <a:cs typeface="Times New Roman" panose="02020603050405020304" pitchFamily="18" charset="0"/>
              </a:rPr>
              <a:t> </a:t>
            </a:r>
            <a:endParaRPr lang="en-US" sz="1600" dirty="0"/>
          </a:p>
          <a:p>
            <a:pPr marL="342900" indent="-342900">
              <a:buFont typeface="+mj-lt"/>
              <a:buAutoNum type="arabicPeriod"/>
            </a:pPr>
            <a:r>
              <a:rPr lang="en-US" sz="1600" dirty="0">
                <a:effectLst/>
                <a:ea typeface="Malgun Gothic" panose="020B0503020000020004" pitchFamily="34" charset="-127"/>
                <a:cs typeface="Times New Roman" panose="02020603050405020304" pitchFamily="18" charset="0"/>
              </a:rPr>
              <a:t>Shah </a:t>
            </a:r>
            <a:r>
              <a:rPr lang="en-US" sz="1600" dirty="0">
                <a:ea typeface="Malgun Gothic" panose="020B0503020000020004" pitchFamily="34" charset="-127"/>
                <a:cs typeface="Times New Roman" panose="02020603050405020304" pitchFamily="18" charset="0"/>
              </a:rPr>
              <a:t>I &amp; Gupta A. (2021, September) Long Short Equity Strategy </a:t>
            </a:r>
            <a:r>
              <a:rPr lang="en-US" sz="1600" dirty="0">
                <a:ea typeface="Malgun Gothic" panose="020B0503020000020004" pitchFamily="34" charset="-127"/>
                <a:cs typeface="Times New Roman" panose="02020603050405020304" pitchFamily="18" charset="0"/>
                <a:hlinkClick r:id="rId7"/>
              </a:rPr>
              <a:t>https://blog.quantinsti.com/long-short-equity-strategy/</a:t>
            </a:r>
            <a:r>
              <a:rPr lang="en-US" sz="1600" dirty="0">
                <a:ea typeface="Malgun Gothic" panose="020B0503020000020004" pitchFamily="34" charset="-127"/>
                <a:cs typeface="Times New Roman" panose="02020603050405020304" pitchFamily="18" charset="0"/>
              </a:rPr>
              <a:t> </a:t>
            </a:r>
          </a:p>
          <a:p>
            <a:pPr marL="342900" indent="-342900">
              <a:buFont typeface="+mj-lt"/>
              <a:buAutoNum type="arabicPeriod"/>
            </a:pPr>
            <a:r>
              <a:rPr lang="en-US" sz="1600" dirty="0">
                <a:ea typeface="Malgun Gothic" panose="020B0503020000020004" pitchFamily="34" charset="-127"/>
                <a:cs typeface="Times New Roman" panose="02020603050405020304" pitchFamily="18" charset="0"/>
              </a:rPr>
              <a:t>Lopez De Prado M. (2018, February) Advances in Financial Machine Learning </a:t>
            </a:r>
          </a:p>
          <a:p>
            <a:pPr marL="0" indent="0">
              <a:buNone/>
            </a:pPr>
            <a:endParaRPr lang="en-KR" dirty="0"/>
          </a:p>
          <a:p>
            <a:pPr marL="0" indent="0">
              <a:buNone/>
            </a:pPr>
            <a:endParaRPr lang="en-KR" dirty="0"/>
          </a:p>
        </p:txBody>
      </p:sp>
      <p:sp>
        <p:nvSpPr>
          <p:cNvPr id="6" name="TextBox 5">
            <a:extLst>
              <a:ext uri="{FF2B5EF4-FFF2-40B4-BE49-F238E27FC236}">
                <a16:creationId xmlns:a16="http://schemas.microsoft.com/office/drawing/2014/main" id="{F34B69FA-900D-6938-8945-C22C0D320134}"/>
              </a:ext>
            </a:extLst>
          </p:cNvPr>
          <p:cNvSpPr txBox="1"/>
          <p:nvPr/>
        </p:nvSpPr>
        <p:spPr>
          <a:xfrm>
            <a:off x="1306383" y="544892"/>
            <a:ext cx="3397405" cy="769441"/>
          </a:xfrm>
          <a:prstGeom prst="rect">
            <a:avLst/>
          </a:prstGeom>
          <a:noFill/>
          <a:effectLst/>
        </p:spPr>
        <p:txBody>
          <a:bodyPr wrap="none" rtlCol="0">
            <a:spAutoFit/>
          </a:bodyPr>
          <a:lstStyle/>
          <a:p>
            <a:r>
              <a:rPr lang="en-US" altLang="ko-KR" sz="4400" b="1" spc="600" dirty="0">
                <a:solidFill>
                  <a:schemeClr val="accent1">
                    <a:lumMod val="50000"/>
                  </a:schemeClr>
                </a:solidFill>
                <a:latin typeface="+mj-lt"/>
                <a:ea typeface="넥슨Lv1고딕 Bold" panose="00000800000000000000" pitchFamily="2" charset="-127"/>
              </a:rPr>
              <a:t>References</a:t>
            </a:r>
            <a:endParaRPr lang="ko-KR" altLang="en-US" sz="4400" b="1" spc="600" dirty="0">
              <a:solidFill>
                <a:schemeClr val="accent1">
                  <a:lumMod val="50000"/>
                </a:schemeClr>
              </a:solidFill>
              <a:latin typeface="+mj-lt"/>
              <a:ea typeface="넥슨Lv1고딕 Bold" panose="00000800000000000000" pitchFamily="2" charset="-127"/>
            </a:endParaRPr>
          </a:p>
        </p:txBody>
      </p:sp>
    </p:spTree>
    <p:extLst>
      <p:ext uri="{BB962C8B-B14F-4D97-AF65-F5344CB8AC3E}">
        <p14:creationId xmlns:p14="http://schemas.microsoft.com/office/powerpoint/2010/main" val="771745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사각형: 잘린 한쪽 모서리 3">
            <a:extLst>
              <a:ext uri="{FF2B5EF4-FFF2-40B4-BE49-F238E27FC236}">
                <a16:creationId xmlns:a16="http://schemas.microsoft.com/office/drawing/2014/main" id="{0EB2EE40-9B67-4919-819C-DC62116DB7E4}"/>
              </a:ext>
            </a:extLst>
          </p:cNvPr>
          <p:cNvSpPr/>
          <p:nvPr/>
        </p:nvSpPr>
        <p:spPr>
          <a:xfrm flipH="1">
            <a:off x="-1" y="0"/>
            <a:ext cx="12191999" cy="6858000"/>
          </a:xfrm>
          <a:prstGeom prst="snip1Rect">
            <a:avLst/>
          </a:prstGeom>
          <a:solidFill>
            <a:schemeClr val="accent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EC5095D-16E4-47D0-978A-BCCD290449DB}"/>
              </a:ext>
            </a:extLst>
          </p:cNvPr>
          <p:cNvSpPr txBox="1"/>
          <p:nvPr/>
        </p:nvSpPr>
        <p:spPr>
          <a:xfrm>
            <a:off x="965916" y="2900297"/>
            <a:ext cx="7764156" cy="1057405"/>
          </a:xfrm>
          <a:prstGeom prst="rect">
            <a:avLst/>
          </a:prstGeom>
          <a:noFill/>
          <a:effectLst/>
        </p:spPr>
        <p:txBody>
          <a:bodyPr wrap="square" rtlCol="0">
            <a:spAutoFit/>
          </a:bodyPr>
          <a:lstStyle/>
          <a:p>
            <a:pPr>
              <a:lnSpc>
                <a:spcPts val="7500"/>
              </a:lnSpc>
            </a:pPr>
            <a:r>
              <a:rPr lang="en-US" altLang="ko-KR" sz="7200" b="1" dirty="0">
                <a:solidFill>
                  <a:schemeClr val="bg1"/>
                </a:solidFill>
                <a:latin typeface="+mj-lt"/>
                <a:ea typeface="Malgun Gothic" panose="020B0503020000020004" pitchFamily="50" charset="-127"/>
              </a:rPr>
              <a:t>THANK YOU</a:t>
            </a:r>
            <a:endParaRPr lang="ko-KR" altLang="en-US" sz="7200" b="1" dirty="0">
              <a:solidFill>
                <a:schemeClr val="bg1"/>
              </a:solidFill>
              <a:latin typeface="+mj-lt"/>
              <a:ea typeface="넥슨Lv1고딕 Bold" panose="00000800000000000000" pitchFamily="2" charset="-127"/>
            </a:endParaRPr>
          </a:p>
        </p:txBody>
      </p:sp>
      <p:sp>
        <p:nvSpPr>
          <p:cNvPr id="10" name="직각 삼각형 9">
            <a:extLst>
              <a:ext uri="{FF2B5EF4-FFF2-40B4-BE49-F238E27FC236}">
                <a16:creationId xmlns:a16="http://schemas.microsoft.com/office/drawing/2014/main" id="{23B98AEB-735B-45DA-B3C3-978A61E4DCB3}"/>
              </a:ext>
            </a:extLst>
          </p:cNvPr>
          <p:cNvSpPr/>
          <p:nvPr/>
        </p:nvSpPr>
        <p:spPr>
          <a:xfrm rot="16200000">
            <a:off x="-13970" y="13971"/>
            <a:ext cx="1244343" cy="1216404"/>
          </a:xfrm>
          <a:prstGeom prst="rtTriangle">
            <a:avLst/>
          </a:prstGeom>
          <a:solidFill>
            <a:schemeClr val="tx2">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144916866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4200</TotalTime>
  <Words>1170</Words>
  <Application>Microsoft Office PowerPoint</Application>
  <PresentationFormat>Widescreen</PresentationFormat>
  <Paragraphs>89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넥슨Lv1고딕 Bold</vt:lpstr>
      <vt:lpstr>Calibri Light</vt:lpstr>
      <vt:lpstr>Arial</vt:lpstr>
      <vt:lpstr>Cambria Math</vt:lpstr>
      <vt:lpstr>Calibri</vt:lpstr>
      <vt:lpstr>넥슨Lv1고딕</vt:lpstr>
      <vt:lpstr>Malgun Gothic</vt:lpstr>
      <vt:lpstr>-apple-system</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User</dc:creator>
  <cp:lastModifiedBy>(대학원생) ELDOR FOZILOV (컴퓨터공학과)</cp:lastModifiedBy>
  <cp:revision>351</cp:revision>
  <dcterms:created xsi:type="dcterms:W3CDTF">2017-12-08T06:13:01Z</dcterms:created>
  <dcterms:modified xsi:type="dcterms:W3CDTF">2025-05-03T05:59:06Z</dcterms:modified>
</cp:coreProperties>
</file>